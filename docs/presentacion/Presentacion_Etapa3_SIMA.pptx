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Somos el equipo 1. Nuestro proyecto se llama «¿Cuánto ayuda el clima a identificar los días de PM2.5 alto en Monterrey?». Trabajamos con los datos horarios de SIMA de 2020 a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PM2.5 tiene evidencia sólida de efectos en la salud por exposición de pocos días. Nuestra pregunta es concreta: ¿cuánto mejora la meteorología del día la identificación de los días en que una estación supera 25 microgramos por metro cúbico, comparado con solo saber qué estación es y en qué temporada estamos? Usamos 25 porque es el límite de 24 horas de la NOM-025 en su etapa final.
Trabajamos con 13 estaciones, de 2021 a 2025, con el PM2.5 y ocho variables meteorológicas. La unidad es el estación-día.
Sobre la limpieza:
- en los archivos originales faltaba el 12 % de los valores horarios, y en PM2.5 el 26 %;
- invalidamos menos del 1 % por lecturas inconsistentes, como radiación solar de noche o un viento muy distinto al del resto de la red;
- imputamos 1 %, solo en huecos de hasta 3 horas.
Al final nos quedaron 15 390 estación-días. En el mapa se ve que el porcentaje de días con superación va de 9 % en SUR a casi 48 % en Juárez.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Usamos dos técnicas multivariadas:
- Componentes principales, para entender la estructura del clima. Ocho variables se resumen en tres ejes: un día cálido, soleado y ventilado; un día húmedo y lluvioso; y un día de presión baja y poco viento.
- Análisis discriminante lineal, para comparar dos modelos: M0, que solo sabe la estación y la temporada, y M1, que además conoce el clima del día.
Entrenamos con 2021 a 2023 y probamos con 2024 y 2025. Las decisiones del modelo quedaron registradas antes de abrir esos años.
El resultado: el AUC sube de 0.72 a 0.79, una mejora de 0.07 con intervalo de confianza de 0.05 a 0.09. En términos prácticos, el modelo con clima detecta el 73 % de los días con superación, contra el 58 % del modelo sin clima, y el 89 % de los episodios mayores de 40.
La mejora no es igual en todo el año. Es mayor en marzo a mayo y casi nula en temporada de lluvias. Las variables que más pesan son la presión más baja de lo normal, la temperatura dentro de cada temporada y el viento débil. Son asociaciones, no causas comprobadas.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Encontramos tres problemas:
- Lecturas sospechosas: viento de hasta 33 metros por segundo en SO2 y NE2 en 2021, y radiación solar de noche en NO2, SE3 y CE. Agregamos una regla de limpieza para ellas.
- Cambios de equipos: SIMA nos contó que en 2021 cambió los sensores de viento y en 2025 cinco equipos de PM2.5. Revisamos ambos cambios y no alteran la conclusión.
- Retención desigual: algunas estaciones conservan pocos días.
Ya tenemos una interfaz donde se elige estación, temporada y clima, y da la probabilidad de superación.
Lo que sigue:
- probar el modelo con meteorología pronosticada, para que sirva como alerta;
- agregar el PM2.5 del día anterior;
- ajustar cortes por estación.
Y tenemos preguntas para ustedes:
- ¿En qué fechas se cambiaron los sensores, y hubo reubicación de estaciones en 2021?
- ¿Las horas están en tiempo local y en qué unidad está la lluvia?
- ¿Qué fuentes cercanas explican que Juárez y Santa Catarina superen tanto?
- ¿Les serviría una alerta basada en pronóstico?
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Leo-issacs/reto-sima-multivariados" TargetMode="Externa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ulo"/>
          <p:cNvSpPr txBox="1"/>
          <p:nvPr/>
        </p:nvSpPr>
        <p:spPr>
          <a:xfrm>
            <a:off x="548640" y="50292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SIMA · Etapa 3: modelado y evaluación</a:t>
            </a:r>
            <a:endParaRPr lang="en-US" sz="2200" dirty="0"/>
          </a:p>
        </p:txBody>
      </p:sp>
      <p:sp>
        <p:nvSpPr>
          <p:cNvPr id="3" name="titulo"/>
          <p:cNvSpPr txBox="1"/>
          <p:nvPr/>
        </p:nvSpPr>
        <p:spPr>
          <a:xfrm>
            <a:off x="548640" y="960120"/>
            <a:ext cx="6766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ayuda la meteorología del día a identificar los días de PM2.5 alto en Monterrey?</a:t>
            </a:r>
            <a:endParaRPr lang="en-US" sz="4000" dirty="0"/>
          </a:p>
        </p:txBody>
      </p:sp>
      <p:sp>
        <p:nvSpPr>
          <p:cNvPr id="4" name="curso"/>
          <p:cNvSpPr txBox="1"/>
          <p:nvPr/>
        </p:nvSpPr>
        <p:spPr>
          <a:xfrm>
            <a:off x="548640" y="320040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1 · Grupo 201 · Análisis multivariado (MA2003B)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Socio formador: SIMA</a:t>
            </a:r>
            <a:endParaRPr lang="en-US" sz="2000" dirty="0"/>
          </a:p>
        </p:txBody>
      </p:sp>
      <p:sp>
        <p:nvSpPr>
          <p:cNvPr id="5" name="integrante_1"/>
          <p:cNvSpPr txBox="1"/>
          <p:nvPr/>
        </p:nvSpPr>
        <p:spPr>
          <a:xfrm>
            <a:off x="548640" y="4343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Leonardo Orozco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Matrícula: ________</a:t>
            </a:r>
            <a:endParaRPr lang="en-US" sz="2000" dirty="0"/>
          </a:p>
        </p:txBody>
      </p:sp>
      <p:sp>
        <p:nvSpPr>
          <p:cNvPr id="6" name="integrante_2"/>
          <p:cNvSpPr txBox="1"/>
          <p:nvPr/>
        </p:nvSpPr>
        <p:spPr>
          <a:xfrm>
            <a:off x="3977640" y="4343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Pablo Alonso Robles Nava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Matrícula: ________</a:t>
            </a:r>
            <a:endParaRPr lang="en-US" sz="2000" dirty="0"/>
          </a:p>
        </p:txBody>
      </p:sp>
      <p:sp>
        <p:nvSpPr>
          <p:cNvPr id="7" name="integrante_3"/>
          <p:cNvSpPr txBox="1"/>
          <p:nvPr/>
        </p:nvSpPr>
        <p:spPr>
          <a:xfrm>
            <a:off x="548640" y="53035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Ayala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Matrícula: ________</a:t>
            </a:r>
            <a:endParaRPr lang="en-US" sz="2000" dirty="0"/>
          </a:p>
        </p:txBody>
      </p:sp>
      <p:sp>
        <p:nvSpPr>
          <p:cNvPr id="8" name="integrante_4"/>
          <p:cNvSpPr txBox="1"/>
          <p:nvPr/>
        </p:nvSpPr>
        <p:spPr>
          <a:xfrm>
            <a:off x="3977640" y="53035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Ignacio Kume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Matrícula: ________</a:t>
            </a:r>
            <a:endParaRPr lang="en-US" sz="2000" dirty="0"/>
          </a:p>
        </p:txBody>
      </p:sp>
      <p:pic>
        <p:nvPicPr>
          <p:cNvPr id="9" name="figura_roc" descr="Curvas ROC de M0 y M1 en la prueba 2024–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822960"/>
            <a:ext cx="4114800" cy="4114800"/>
          </a:xfrm>
          <a:prstGeom prst="rect">
            <a:avLst/>
          </a:prstGeom>
        </p:spPr>
      </p:pic>
      <p:sp>
        <p:nvSpPr>
          <p:cNvPr id="10" name="pie_roc"/>
          <p:cNvSpPr txBox="1"/>
          <p:nvPr/>
        </p:nvSpPr>
        <p:spPr>
          <a:xfrm>
            <a:off x="7635240" y="502920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frente a falsas alarmas en 2024–2025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queremos hacer y con qué datos</a:t>
            </a:r>
            <a:endParaRPr lang="en-US" sz="3200" dirty="0"/>
          </a:p>
        </p:txBody>
      </p:sp>
      <p:sp>
        <p:nvSpPr>
          <p:cNvPr id="3" name="objetivo_datos"/>
          <p:cNvSpPr txBox="1"/>
          <p:nvPr/>
        </p:nvSpPr>
        <p:spPr>
          <a:xfrm>
            <a:off x="457200" y="1051560"/>
            <a:ext cx="6263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cuánto mejora la meteorología del día la clasificación retrospectiva de días-estación con PM2.5 &gt; 25 µg/m³ (24 h), frente a solo conocer estación y temporada. Los 25 µg/m³ (NOM-025-SSA1-2021) son una referencia fija, no una evaluación normativa.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qué: 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PM2.5 se asocia con efectos en la salud por exposición de corto plazo; orienta la vigilancia de SIMA.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Datos: 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estaciones · 2021–2025 · PM2.5 + 8 variables meteorológicas · 15 390 estación-días</a:t>
            </a:r>
            <a:endParaRPr lang="en-US" sz="2000" dirty="0"/>
          </a:p>
        </p:txBody>
      </p:sp>
      <p:pic>
        <p:nvPicPr>
          <p:cNvPr id="4" name="mapa" descr="Mapa de las 13 estaciones con el porcentaje de días con super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143000"/>
            <a:ext cx="4828032" cy="2491887"/>
          </a:xfrm>
          <a:prstGeom prst="rect">
            <a:avLst/>
          </a:prstGeom>
        </p:spPr>
      </p:pic>
      <p:sp>
        <p:nvSpPr>
          <p:cNvPr id="5" name="pie_mapa"/>
          <p:cNvSpPr txBox="1"/>
          <p:nvPr/>
        </p:nvSpPr>
        <p:spPr>
          <a:xfrm>
            <a:off x="6903720" y="3749040"/>
            <a:ext cx="4828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días con superación, 2021–2025</a:t>
            </a:r>
            <a:endParaRPr lang="en-US" sz="2000" dirty="0"/>
          </a:p>
        </p:txBody>
      </p:sp>
      <p:sp>
        <p:nvSpPr>
          <p:cNvPr id="6" name="tarjeta_datos_1"/>
          <p:cNvSpPr/>
          <p:nvPr/>
        </p:nvSpPr>
        <p:spPr>
          <a:xfrm>
            <a:off x="457200" y="4434840"/>
            <a:ext cx="3611880" cy="2057400"/>
          </a:xfrm>
          <a:prstGeom prst="roundRect">
            <a:avLst>
              <a:gd name="adj" fmla="val 5333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7" name="cifra_datos_1"/>
          <p:cNvSpPr txBox="1"/>
          <p:nvPr/>
        </p:nvSpPr>
        <p:spPr>
          <a:xfrm>
            <a:off x="685800" y="45262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12.3 %</a:t>
            </a:r>
            <a:endParaRPr lang="en-US" sz="4400" dirty="0"/>
          </a:p>
        </p:txBody>
      </p:sp>
      <p:sp>
        <p:nvSpPr>
          <p:cNvPr id="8" name="texto_datos_1"/>
          <p:cNvSpPr txBox="1"/>
          <p:nvPr/>
        </p:nvSpPr>
        <p:spPr>
          <a:xfrm>
            <a:off x="685800" y="521208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faltantes de origen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valores horarios (PM2.5: 26 %)</a:t>
            </a:r>
            <a:endParaRPr lang="en-US" sz="2000" dirty="0"/>
          </a:p>
        </p:txBody>
      </p:sp>
      <p:sp>
        <p:nvSpPr>
          <p:cNvPr id="9" name="tarjeta_datos_2"/>
          <p:cNvSpPr/>
          <p:nvPr/>
        </p:nvSpPr>
        <p:spPr>
          <a:xfrm>
            <a:off x="4288536" y="4434840"/>
            <a:ext cx="3611880" cy="2057400"/>
          </a:xfrm>
          <a:prstGeom prst="roundRect">
            <a:avLst>
              <a:gd name="adj" fmla="val 5333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0" name="cifra_datos_2"/>
          <p:cNvSpPr txBox="1"/>
          <p:nvPr/>
        </p:nvSpPr>
        <p:spPr>
          <a:xfrm>
            <a:off x="4517136" y="45262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0.7 %</a:t>
            </a:r>
            <a:endParaRPr lang="en-US" sz="4400" dirty="0"/>
          </a:p>
        </p:txBody>
      </p:sp>
      <p:sp>
        <p:nvSpPr>
          <p:cNvPr id="11" name="texto_datos_2"/>
          <p:cNvSpPr txBox="1"/>
          <p:nvPr/>
        </p:nvSpPr>
        <p:spPr>
          <a:xfrm>
            <a:off x="4517136" y="521208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inconsistentes eliminados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radiación nocturna, viento distinto al de la red, repetidos 24 h, saltos, fuera de rango</a:t>
            </a:r>
            <a:endParaRPr lang="en-US" sz="2000" dirty="0"/>
          </a:p>
        </p:txBody>
      </p:sp>
      <p:sp>
        <p:nvSpPr>
          <p:cNvPr id="12" name="tarjeta_datos_3"/>
          <p:cNvSpPr/>
          <p:nvPr/>
        </p:nvSpPr>
        <p:spPr>
          <a:xfrm>
            <a:off x="8119872" y="4434840"/>
            <a:ext cx="3611880" cy="2057400"/>
          </a:xfrm>
          <a:prstGeom prst="roundRect">
            <a:avLst>
              <a:gd name="adj" fmla="val 5333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3" name="cifra_datos_3"/>
          <p:cNvSpPr txBox="1"/>
          <p:nvPr/>
        </p:nvSpPr>
        <p:spPr>
          <a:xfrm>
            <a:off x="8348472" y="45262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1.0 %</a:t>
            </a:r>
            <a:endParaRPr lang="en-US" sz="4400" dirty="0"/>
          </a:p>
        </p:txBody>
      </p:sp>
      <p:sp>
        <p:nvSpPr>
          <p:cNvPr id="14" name="texto_datos_3"/>
          <p:cNvSpPr txBox="1"/>
          <p:nvPr/>
        </p:nvSpPr>
        <p:spPr>
          <a:xfrm>
            <a:off x="8348472" y="521208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imputados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huecos ≤ 3 h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lo analizamos y qué encontramos</a:t>
            </a:r>
            <a:endParaRPr lang="en-US" sz="3200" dirty="0"/>
          </a:p>
        </p:txBody>
      </p:sp>
      <p:sp>
        <p:nvSpPr>
          <p:cNvPr id="3" name="tarjeta_resultado_1"/>
          <p:cNvSpPr/>
          <p:nvPr/>
        </p:nvSpPr>
        <p:spPr>
          <a:xfrm>
            <a:off x="457200" y="1097280"/>
            <a:ext cx="3429000" cy="2194560"/>
          </a:xfrm>
          <a:prstGeom prst="roundRect">
            <a:avLst>
              <a:gd name="adj" fmla="val 5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4" name="cifra_resultado_1"/>
          <p:cNvSpPr txBox="1"/>
          <p:nvPr/>
        </p:nvSpPr>
        <p:spPr>
          <a:xfrm>
            <a:off x="640080" y="12618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pPr indent="0" marL="0">
              <a:buNone/>
            </a:pPr>
            <a:r>
              <a:rPr lang="en-US" sz="40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buNone/>
            </a:pPr>
            <a:r>
              <a:rPr lang="en-US" sz="40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</a:t>
            </a:r>
            <a:endParaRPr lang="en-US" sz="4000" dirty="0"/>
          </a:p>
        </p:txBody>
      </p:sp>
      <p:sp>
        <p:nvSpPr>
          <p:cNvPr id="5" name="texto_resultado_1"/>
          <p:cNvSpPr txBox="1"/>
          <p:nvPr/>
        </p:nvSpPr>
        <p:spPr>
          <a:xfrm>
            <a:off x="640080" y="1993392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de M0 → M1: +0.07 (IC 95 %: 0.05–0.09)</a:t>
            </a:r>
            <a:endParaRPr lang="en-US" sz="2000" dirty="0"/>
          </a:p>
        </p:txBody>
      </p:sp>
      <p:sp>
        <p:nvSpPr>
          <p:cNvPr id="6" name="tarjeta_resultado_2"/>
          <p:cNvSpPr/>
          <p:nvPr/>
        </p:nvSpPr>
        <p:spPr>
          <a:xfrm>
            <a:off x="4023360" y="1097280"/>
            <a:ext cx="3429000" cy="2194560"/>
          </a:xfrm>
          <a:prstGeom prst="roundRect">
            <a:avLst>
              <a:gd name="adj" fmla="val 5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7" name="cifra_resultado_2"/>
          <p:cNvSpPr txBox="1"/>
          <p:nvPr/>
        </p:nvSpPr>
        <p:spPr>
          <a:xfrm>
            <a:off x="4206240" y="12618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73 %</a:t>
            </a:r>
            <a:pPr indent="0" marL="0">
              <a:buNone/>
            </a:pPr>
            <a:r>
              <a:rPr lang="en-US" sz="30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pPr indent="0" marL="0">
              <a:buNone/>
            </a:pPr>
            <a:r>
              <a:rPr lang="en-US" sz="4000" b="1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58 %</a:t>
            </a:r>
            <a:endParaRPr lang="en-US" sz="4000" dirty="0"/>
          </a:p>
        </p:txBody>
      </p:sp>
      <p:sp>
        <p:nvSpPr>
          <p:cNvPr id="8" name="texto_resultado_2"/>
          <p:cNvSpPr txBox="1"/>
          <p:nvPr/>
        </p:nvSpPr>
        <p:spPr>
          <a:xfrm>
            <a:off x="4206240" y="1993392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superaciones detectadas (M1 vs M0); falsas alarmas: 30 % vs 27 %</a:t>
            </a:r>
            <a:endParaRPr lang="en-US" sz="2000" dirty="0"/>
          </a:p>
        </p:txBody>
      </p:sp>
      <p:sp>
        <p:nvSpPr>
          <p:cNvPr id="9" name="tarjeta_resultado_3"/>
          <p:cNvSpPr/>
          <p:nvPr/>
        </p:nvSpPr>
        <p:spPr>
          <a:xfrm>
            <a:off x="7589520" y="1097280"/>
            <a:ext cx="2057400" cy="2194560"/>
          </a:xfrm>
          <a:prstGeom prst="roundRect">
            <a:avLst>
              <a:gd name="adj" fmla="val 5333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0" name="cifra_resultado_3"/>
          <p:cNvSpPr txBox="1"/>
          <p:nvPr/>
        </p:nvSpPr>
        <p:spPr>
          <a:xfrm>
            <a:off x="7772400" y="1261872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89 %</a:t>
            </a:r>
            <a:endParaRPr lang="en-US" sz="4400" dirty="0"/>
          </a:p>
        </p:txBody>
      </p:sp>
      <p:sp>
        <p:nvSpPr>
          <p:cNvPr id="11" name="texto_resultado_3"/>
          <p:cNvSpPr txBox="1"/>
          <p:nvPr/>
        </p:nvSpPr>
        <p:spPr>
          <a:xfrm>
            <a:off x="7772400" y="199339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episodios &gt; 40 µg/m³ (M1)</a:t>
            </a:r>
            <a:endParaRPr lang="en-US" sz="2000" dirty="0"/>
          </a:p>
        </p:txBody>
      </p:sp>
      <p:sp>
        <p:nvSpPr>
          <p:cNvPr id="12" name="tarjeta_resultado_4"/>
          <p:cNvSpPr/>
          <p:nvPr/>
        </p:nvSpPr>
        <p:spPr>
          <a:xfrm>
            <a:off x="9784080" y="1097280"/>
            <a:ext cx="1947672" cy="2194560"/>
          </a:xfrm>
          <a:prstGeom prst="roundRect">
            <a:avLst>
              <a:gd name="adj" fmla="val 5634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3" name="cifra_resultado_4"/>
          <p:cNvSpPr txBox="1"/>
          <p:nvPr/>
        </p:nvSpPr>
        <p:spPr>
          <a:xfrm>
            <a:off x="9966960" y="1261872"/>
            <a:ext cx="1581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+0.14</a:t>
            </a:r>
            <a:endParaRPr lang="en-US" sz="4400" dirty="0"/>
          </a:p>
        </p:txBody>
      </p:sp>
      <p:sp>
        <p:nvSpPr>
          <p:cNvPr id="14" name="texto_resultado_4"/>
          <p:cNvSpPr txBox="1"/>
          <p:nvPr/>
        </p:nvSpPr>
        <p:spPr>
          <a:xfrm>
            <a:off x="9966960" y="1993392"/>
            <a:ext cx="15819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mar–may; sin mejora concluyente en lluvias</a:t>
            </a:r>
            <a:endParaRPr lang="en-US" sz="2000" dirty="0"/>
          </a:p>
        </p:txBody>
      </p:sp>
      <p:sp>
        <p:nvSpPr>
          <p:cNvPr id="15" name="tecnicas"/>
          <p:cNvSpPr txBox="1"/>
          <p:nvPr/>
        </p:nvSpPr>
        <p:spPr>
          <a:xfrm>
            <a:off x="457200" y="3474720"/>
            <a:ext cx="5349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(interdependencia): 3 ejes meteorológicos explican el 67 %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(dependencia): M0 estación + temporada frente a M1 + meteorología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 2021–2023, prueba 2024–2025; decisiones fijadas antes del ajuste definitivo (ensayo preliminar con 2024–2025, declarado)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asocia con presión baja, más temperatura y menos viento</a:t>
            </a:r>
            <a:endParaRPr lang="en-US" sz="2000" dirty="0"/>
          </a:p>
        </p:txBody>
      </p:sp>
      <p:pic>
        <p:nvPicPr>
          <p:cNvPr id="16" name="dauc_temporada" descr="Mejora del AUC por temporada con intervalos de confianz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3474720"/>
            <a:ext cx="5559552" cy="31272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Problemas, qué sigue y preguntas para SIMA</a:t>
            </a:r>
            <a:endParaRPr lang="en-US" sz="3200" dirty="0"/>
          </a:p>
        </p:txBody>
      </p:sp>
      <p:sp>
        <p:nvSpPr>
          <p:cNvPr id="3" name="problemas"/>
          <p:cNvSpPr txBox="1"/>
          <p:nvPr/>
        </p:nvSpPr>
        <p:spPr>
          <a:xfrm>
            <a:off x="457200" y="1143000"/>
            <a:ext cx="3520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Viento (SO2, NE2 en 2021) y radiación nocturna (NO2, SE3, CE): regla nueva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Cambios de equipos 2021/2025: revisados, no cambian la conclusión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desigual entre estaciones</a:t>
            </a:r>
            <a:endParaRPr lang="en-US" sz="2200" dirty="0"/>
          </a:p>
        </p:txBody>
      </p:sp>
      <p:sp>
        <p:nvSpPr>
          <p:cNvPr id="4" name="que_sigue"/>
          <p:cNvSpPr txBox="1"/>
          <p:nvPr/>
        </p:nvSpPr>
        <p:spPr>
          <a:xfrm>
            <a:off x="457200" y="4297680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sigue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Meteorología pronosticada (alerta real)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del día anterior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Cortes por estación</a:t>
            </a:r>
            <a:endParaRPr lang="en-US" sz="2200" dirty="0"/>
          </a:p>
        </p:txBody>
      </p:sp>
      <p:sp>
        <p:nvSpPr>
          <p:cNvPr id="5" name="tarjeta_app"/>
          <p:cNvSpPr/>
          <p:nvPr/>
        </p:nvSpPr>
        <p:spPr>
          <a:xfrm>
            <a:off x="4114800" y="1143000"/>
            <a:ext cx="4526280" cy="4983480"/>
          </a:xfrm>
          <a:prstGeom prst="roundRect">
            <a:avLst>
              <a:gd name="adj" fmla="val 2424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6" name="titulo_app"/>
          <p:cNvSpPr txBox="1"/>
          <p:nvPr/>
        </p:nvSpPr>
        <p:spPr>
          <a:xfrm>
            <a:off x="4315968" y="126187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Hecho: interfaz Shiny</a:t>
            </a:r>
            <a:endParaRPr lang="en-US" sz="2200" dirty="0"/>
          </a:p>
        </p:txBody>
      </p:sp>
      <p:pic>
        <p:nvPicPr>
          <p:cNvPr id="7" name="captura_app" descr="Captura de la interfaz Shiny: pestaña Calcul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07408" y="1737360"/>
            <a:ext cx="3931920" cy="3633094"/>
          </a:xfrm>
          <a:prstGeom prst="rect">
            <a:avLst/>
          </a:prstGeom>
        </p:spPr>
      </p:pic>
      <p:sp>
        <p:nvSpPr>
          <p:cNvPr id="8" name="pie_app"/>
          <p:cNvSpPr txBox="1"/>
          <p:nvPr/>
        </p:nvSpPr>
        <p:spPr>
          <a:xfrm>
            <a:off x="4315968" y="5440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Estación, temporada y meteorología → probabilidad de superación</a:t>
            </a:r>
            <a:endParaRPr lang="en-US" sz="2000" dirty="0"/>
          </a:p>
        </p:txBody>
      </p:sp>
      <p:sp>
        <p:nvSpPr>
          <p:cNvPr id="9" name="tarjeta_preguntas"/>
          <p:cNvSpPr/>
          <p:nvPr/>
        </p:nvSpPr>
        <p:spPr>
          <a:xfrm>
            <a:off x="8778240" y="1143000"/>
            <a:ext cx="2953512" cy="4983480"/>
          </a:xfrm>
          <a:prstGeom prst="roundRect">
            <a:avLst>
              <a:gd name="adj" fmla="val 3715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0" name="preguntas"/>
          <p:cNvSpPr txBox="1"/>
          <p:nvPr/>
        </p:nvSpPr>
        <p:spPr>
          <a:xfrm>
            <a:off x="8942832" y="1261872"/>
            <a:ext cx="265176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para SIMA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de cambio de sensores; ¿reubicaciones en 2021?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¿Hora local? ¿Unidad de la lluvia?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fuentes explican Juárez (SE2) y Santa Catarina (SO)?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¿Les serviría una alerta con pronóstico?</a:t>
            </a:r>
            <a:endParaRPr lang="en-US" sz="2200" dirty="0"/>
          </a:p>
        </p:txBody>
      </p:sp>
      <p:sp>
        <p:nvSpPr>
          <p:cNvPr id="11" name="enlace_repositorio"/>
          <p:cNvSpPr txBox="1"/>
          <p:nvPr/>
        </p:nvSpPr>
        <p:spPr>
          <a:xfrm>
            <a:off x="457200" y="6263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y app: </a:t>
            </a:r>
            <a:pPr indent="0" marL="0">
              <a:buNone/>
            </a:pPr>
            <a:r>
              <a:rPr lang="en-US" sz="2000" u="sng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github.com/Leo-issacs/reto-sima-multivariados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Reto SIMA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¿Cuánto ayuda la meteorología del día a identificar los días de PM2.5 alto en Monterrey?</dc:title>
  <dc:subject>PptxGenJS Presentation</dc:subject>
  <dc:creator>Equipo 1 · Grupo 201 · MA2003B</dc:creator>
  <cp:lastModifiedBy>Equipo 1 · Grupo 201 · MA2003B</cp:lastModifiedBy>
  <cp:revision>1</cp:revision>
  <dcterms:created xsi:type="dcterms:W3CDTF">2026-10-13T16:39:15Z</dcterms:created>
  <dcterms:modified xsi:type="dcterms:W3CDTF">2026-10-13T16:39:15Z</dcterms:modified>
</cp:coreProperties>
</file>