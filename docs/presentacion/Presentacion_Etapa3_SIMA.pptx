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1. Nuestro proyecto se llama «¿Cuánto ayuda la meteorología del día a identificar los días de PM2.5 alto en Monterrey?».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PM2.5 tiene evidencia sólida de efectos en la salud por exposición de pocos días. Nuestra pregunta es concreta: ¿cuánto mejora la meteorología del día la identificación de los días en que una estación supera 25 microgramos por metro cúbico, comparado con solo saber qué estación es y en qué temporada estamos? Usamos 25 porque es el límite de 24 horas de la NOM-025 en su etapa final; lo tomamos como referencia fija, no como evaluación normativa.
Trabajamos con 13 estaciones, de 2021 a 2025, con el PM2.5 y ocho variables meteorológicas. En los archivos originales faltaba el 12 % de los valores horarios, y en PM2.5 el 26 %. Invalidamos menos del 1 % por lecturas inconsistentes e imputamos el 1 %, solo en huecos de hasta 3 horas. Nos quedaron 15 390 estación-días. En el mapa se ve que la superación va de 9 % en SUR a casi 48 % en Juárez.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dos técnicas multivariadas. Componentes principales, para entender la estructura del clima: ocho variables se resumen en tres ejes que explican el 67 % de la variación. Y análisis discriminante lineal, para comparar dos modelos: M0, que solo sabe la estación y la temporada, y M1, que además conoce el clima del día.
Entrenamos con 2021 a 2023 y probamos con 2024 y 2025. Las decisiones del modelo quedaron registradas antes de la evaluación final.
El resultado: el AUC sube de 0.72 a 0.79, una mejora de 0.07 con intervalo de confianza de 0.05 a 0.09. En términos prácticos, el modelo con clima detecta el 73 % de los días con superación, contra el 58 % del modelo sin clima, y el 89 % de los episodios mayores de 40.
La mejora es mayor de marzo a mayo y no es concluyente en temporada de lluvias. Lo que más pesa es la presión más baja de lo normal, la temperatura dentro de cada temporada y el viento débil. Son asociaciones, no causas comprobadas.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Encontramos tres problemas:
- Lecturas imposibles: viento de más de 100 kilómetros por hora y radiación solar de noche en algunas estaciones; agregamos reglas para detectarlas.
- Cambios de equipos y de ubicación: sensores de viento en 2021, cinco equipos de PM2.5 en 2025 y seis estaciones reubicadas entre 2021 y 2022; los revisamos y no alteran la conclusión.
- Retención desigual: algunas estaciones conservan pocos días.
Ya tenemos una interfaz donde se elige estación, temporada y clima, y da la probabilidad de superación.
¿Qué le sirve esto a SIMA? Tres cosas: la meteorología del día sí ayuda, sobre todo de marzo a mayo, y eso justifica probar una alerta con pronóstico; dos reglas de control de calidad que detectaron sensores con fallas y que pueden incorporar; y una base limpia con todo el código abierto.
Lo que sigue: en la etapa 4, recalibrar las probabilidades, definir un corte por estación e incorporar lo que nos respondan hoy. Después, probar el modelo con meteorología pronosticada, que es lo que lo convertiría en una alerta real.
Nos ayudaría mucho saber dos cosas: las fechas y coordenadas exactas de los cambios de sensores y de las seis reubicaciones, y si les serviría una alerta basada en pronóstico.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eo-issacs/reto-sima-multivariados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ulo"/>
          <p:cNvSpPr txBox="1"/>
          <p:nvPr/>
        </p:nvSpPr>
        <p:spPr>
          <a:xfrm>
            <a:off x="548640" y="502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SIMA · Etapa 3: modelado y evaluación</a:t>
            </a:r>
            <a:endParaRPr lang="en-US" sz="22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960120"/>
            <a:ext cx="676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ayuda la meteorología del día a identificar los días de PM2.5 alto en Monterrey?</a:t>
            </a:r>
            <a:endParaRPr lang="en-US" sz="4000" dirty="0"/>
          </a:p>
        </p:txBody>
      </p:sp>
      <p:sp>
        <p:nvSpPr>
          <p:cNvPr id="4" name="curso"/>
          <p:cNvSpPr txBox="1"/>
          <p:nvPr/>
        </p:nvSpPr>
        <p:spPr>
          <a:xfrm>
            <a:off x="548640" y="32004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· Grupo 201 · Análisis multivariado (MA2003B)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formador: SIMA</a:t>
            </a:r>
            <a:endParaRPr lang="en-US" sz="2000" dirty="0"/>
          </a:p>
        </p:txBody>
      </p:sp>
      <p:sp>
        <p:nvSpPr>
          <p:cNvPr id="5" name="integrante_1"/>
          <p:cNvSpPr txBox="1"/>
          <p:nvPr/>
        </p:nvSpPr>
        <p:spPr>
          <a:xfrm>
            <a:off x="54864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Orozco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________</a:t>
            </a:r>
            <a:endParaRPr lang="en-US" sz="2000" dirty="0"/>
          </a:p>
        </p:txBody>
      </p:sp>
      <p:sp>
        <p:nvSpPr>
          <p:cNvPr id="6" name="integrante_2"/>
          <p:cNvSpPr txBox="1"/>
          <p:nvPr/>
        </p:nvSpPr>
        <p:spPr>
          <a:xfrm>
            <a:off x="397764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Alonso Robles Nava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________</a:t>
            </a:r>
            <a:endParaRPr lang="en-US" sz="2000" dirty="0"/>
          </a:p>
        </p:txBody>
      </p:sp>
      <p:sp>
        <p:nvSpPr>
          <p:cNvPr id="7" name="integrante_3"/>
          <p:cNvSpPr txBox="1"/>
          <p:nvPr/>
        </p:nvSpPr>
        <p:spPr>
          <a:xfrm>
            <a:off x="548640" y="5303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Ayala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________</a:t>
            </a:r>
            <a:endParaRPr lang="en-US" sz="2000" dirty="0"/>
          </a:p>
        </p:txBody>
      </p:sp>
      <p:sp>
        <p:nvSpPr>
          <p:cNvPr id="8" name="integrante_4"/>
          <p:cNvSpPr txBox="1"/>
          <p:nvPr/>
        </p:nvSpPr>
        <p:spPr>
          <a:xfrm>
            <a:off x="3977640" y="5303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Kume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________</a:t>
            </a:r>
            <a:endParaRPr lang="en-US" sz="2000" dirty="0"/>
          </a:p>
        </p:txBody>
      </p:sp>
      <p:pic>
        <p:nvPicPr>
          <p:cNvPr id="9" name="figura_roc" descr="Curvas ROC de M0 y M1 en la prueba 2024–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822960"/>
            <a:ext cx="4114800" cy="4114800"/>
          </a:xfrm>
          <a:prstGeom prst="rect">
            <a:avLst/>
          </a:prstGeom>
        </p:spPr>
      </p:pic>
      <p:sp>
        <p:nvSpPr>
          <p:cNvPr id="10" name="pie_roc"/>
          <p:cNvSpPr txBox="1"/>
          <p:nvPr/>
        </p:nvSpPr>
        <p:spPr>
          <a:xfrm>
            <a:off x="7635240" y="5029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frente a falsas alarmas en 2024–2025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queremos hacer y con qué datos</a:t>
            </a:r>
            <a:endParaRPr lang="en-US" sz="3200" dirty="0"/>
          </a:p>
        </p:txBody>
      </p:sp>
      <p:sp>
        <p:nvSpPr>
          <p:cNvPr id="3" name="objetivo_datos"/>
          <p:cNvSpPr txBox="1"/>
          <p:nvPr/>
        </p:nvSpPr>
        <p:spPr>
          <a:xfrm>
            <a:off x="457200" y="1051560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cuánto mejora la meteorología del día la clasificación retrospectiva de días-estación con PM2.5 &gt; 25 µg/m³ (24 h), frente a solo conocer estación y temporada. Los 25 µg/m³ (NOM-025-SSA1-2021) son una referencia fija, no una evaluación normativa.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PM2.5 se asocia con efectos en la salud por exposición de corto plazo; orienta la vigilancia de SIMA.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estaciones · 2021–2025 · PM2.5 + 8 variables meteorológicas · 15 390 estación-días</a:t>
            </a:r>
            <a:endParaRPr lang="en-US" sz="2000" dirty="0"/>
          </a:p>
        </p:txBody>
      </p:sp>
      <p:pic>
        <p:nvPicPr>
          <p:cNvPr id="4" name="mapa" descr="Mapa de las 13 estaciones con el porcentaje de días con supe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143000"/>
            <a:ext cx="4828032" cy="2491887"/>
          </a:xfrm>
          <a:prstGeom prst="rect">
            <a:avLst/>
          </a:prstGeom>
        </p:spPr>
      </p:pic>
      <p:sp>
        <p:nvSpPr>
          <p:cNvPr id="5" name="pie_mapa"/>
          <p:cNvSpPr txBox="1"/>
          <p:nvPr/>
        </p:nvSpPr>
        <p:spPr>
          <a:xfrm>
            <a:off x="6903720" y="37490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días con superación, 2021–2025</a:t>
            </a:r>
            <a:endParaRPr lang="en-US" sz="2000" dirty="0"/>
          </a:p>
        </p:txBody>
      </p:sp>
      <p:sp>
        <p:nvSpPr>
          <p:cNvPr id="6" name="tarjeta_datos_1"/>
          <p:cNvSpPr/>
          <p:nvPr/>
        </p:nvSpPr>
        <p:spPr>
          <a:xfrm>
            <a:off x="457200" y="44348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cifra_datos_1"/>
          <p:cNvSpPr txBox="1"/>
          <p:nvPr/>
        </p:nvSpPr>
        <p:spPr>
          <a:xfrm>
            <a:off x="685800" y="4526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12.3 %</a:t>
            </a:r>
            <a:endParaRPr lang="en-US" sz="4400" dirty="0"/>
          </a:p>
        </p:txBody>
      </p:sp>
      <p:sp>
        <p:nvSpPr>
          <p:cNvPr id="8" name="texto_datos_1"/>
          <p:cNvSpPr txBox="1"/>
          <p:nvPr/>
        </p:nvSpPr>
        <p:spPr>
          <a:xfrm>
            <a:off x="685800" y="5212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 de origen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valores horarios (PM2.5: 26 %)</a:t>
            </a:r>
            <a:endParaRPr lang="en-US" sz="2000" dirty="0"/>
          </a:p>
        </p:txBody>
      </p:sp>
      <p:sp>
        <p:nvSpPr>
          <p:cNvPr id="9" name="tarjeta_datos_2"/>
          <p:cNvSpPr/>
          <p:nvPr/>
        </p:nvSpPr>
        <p:spPr>
          <a:xfrm>
            <a:off x="4288536" y="44348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cifra_datos_2"/>
          <p:cNvSpPr txBox="1"/>
          <p:nvPr/>
        </p:nvSpPr>
        <p:spPr>
          <a:xfrm>
            <a:off x="4517136" y="4526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0.7 %</a:t>
            </a:r>
            <a:endParaRPr lang="en-US" sz="4400" dirty="0"/>
          </a:p>
        </p:txBody>
      </p:sp>
      <p:sp>
        <p:nvSpPr>
          <p:cNvPr id="11" name="texto_datos_2"/>
          <p:cNvSpPr txBox="1"/>
          <p:nvPr/>
        </p:nvSpPr>
        <p:spPr>
          <a:xfrm>
            <a:off x="4517136" y="5212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inconsistentes eliminados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radiación nocturna, viento distinto al de la red, repetidos 24 h, saltos, fuera de rango</a:t>
            </a:r>
            <a:endParaRPr lang="en-US" sz="2000" dirty="0"/>
          </a:p>
        </p:txBody>
      </p:sp>
      <p:sp>
        <p:nvSpPr>
          <p:cNvPr id="12" name="tarjeta_datos_3"/>
          <p:cNvSpPr/>
          <p:nvPr/>
        </p:nvSpPr>
        <p:spPr>
          <a:xfrm>
            <a:off x="8119872" y="44348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cifra_datos_3"/>
          <p:cNvSpPr txBox="1"/>
          <p:nvPr/>
        </p:nvSpPr>
        <p:spPr>
          <a:xfrm>
            <a:off x="8348472" y="4526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4400" dirty="0"/>
          </a:p>
        </p:txBody>
      </p:sp>
      <p:sp>
        <p:nvSpPr>
          <p:cNvPr id="14" name="texto_datos_3"/>
          <p:cNvSpPr txBox="1"/>
          <p:nvPr/>
        </p:nvSpPr>
        <p:spPr>
          <a:xfrm>
            <a:off x="8348472" y="5212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huecos ≤ 3 h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analizamos y qué encontramos</a:t>
            </a:r>
            <a:endParaRPr lang="en-US" sz="3200" dirty="0"/>
          </a:p>
        </p:txBody>
      </p:sp>
      <p:sp>
        <p:nvSpPr>
          <p:cNvPr id="3" name="tarjeta_resultado_1"/>
          <p:cNvSpPr/>
          <p:nvPr/>
        </p:nvSpPr>
        <p:spPr>
          <a:xfrm>
            <a:off x="457200" y="10972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cifra_resultado_1"/>
          <p:cNvSpPr txBox="1"/>
          <p:nvPr/>
        </p:nvSpPr>
        <p:spPr>
          <a:xfrm>
            <a:off x="640080" y="1261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pPr indent="0" marL="0">
              <a:buNone/>
            </a:pPr>
            <a:r>
              <a:rPr lang="en-US" sz="4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40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4000" dirty="0"/>
          </a:p>
        </p:txBody>
      </p:sp>
      <p:sp>
        <p:nvSpPr>
          <p:cNvPr id="5" name="texto_resultado_1"/>
          <p:cNvSpPr txBox="1"/>
          <p:nvPr/>
        </p:nvSpPr>
        <p:spPr>
          <a:xfrm>
            <a:off x="640080" y="19933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M0 → M1: +0.07 (IC 95 %: 0.05–0.09)</a:t>
            </a:r>
            <a:endParaRPr lang="en-US" sz="2000" dirty="0"/>
          </a:p>
        </p:txBody>
      </p:sp>
      <p:sp>
        <p:nvSpPr>
          <p:cNvPr id="6" name="tarjeta_resultado_2"/>
          <p:cNvSpPr/>
          <p:nvPr/>
        </p:nvSpPr>
        <p:spPr>
          <a:xfrm>
            <a:off x="4023360" y="10972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cifra_resultado_2"/>
          <p:cNvSpPr txBox="1"/>
          <p:nvPr/>
        </p:nvSpPr>
        <p:spPr>
          <a:xfrm>
            <a:off x="4206240" y="1261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pPr indent="0" marL="0">
              <a:buNone/>
            </a:pPr>
            <a:r>
              <a:rPr lang="en-US" sz="3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indent="0" marL="0">
              <a:buNone/>
            </a:pPr>
            <a:r>
              <a:rPr lang="en-US" sz="40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58 %</a:t>
            </a:r>
            <a:endParaRPr lang="en-US" sz="4000" dirty="0"/>
          </a:p>
        </p:txBody>
      </p:sp>
      <p:sp>
        <p:nvSpPr>
          <p:cNvPr id="8" name="texto_resultado_2"/>
          <p:cNvSpPr txBox="1"/>
          <p:nvPr/>
        </p:nvSpPr>
        <p:spPr>
          <a:xfrm>
            <a:off x="4206240" y="19933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superaciones detectadas (M1 vs M0); falsas alarmas: 30 % vs 27 %</a:t>
            </a:r>
            <a:endParaRPr lang="en-US" sz="2000" dirty="0"/>
          </a:p>
        </p:txBody>
      </p:sp>
      <p:sp>
        <p:nvSpPr>
          <p:cNvPr id="9" name="tarjeta_resultado_3"/>
          <p:cNvSpPr/>
          <p:nvPr/>
        </p:nvSpPr>
        <p:spPr>
          <a:xfrm>
            <a:off x="7589520" y="109728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cifra_resultado_3"/>
          <p:cNvSpPr txBox="1"/>
          <p:nvPr/>
        </p:nvSpPr>
        <p:spPr>
          <a:xfrm>
            <a:off x="7772400" y="126187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</a:t>
            </a:r>
            <a:endParaRPr lang="en-US" sz="4400" dirty="0"/>
          </a:p>
        </p:txBody>
      </p:sp>
      <p:sp>
        <p:nvSpPr>
          <p:cNvPr id="11" name="texto_resultado_3"/>
          <p:cNvSpPr txBox="1"/>
          <p:nvPr/>
        </p:nvSpPr>
        <p:spPr>
          <a:xfrm>
            <a:off x="7772400" y="199339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episodios &gt; 40 µg/m³ (M1)</a:t>
            </a:r>
            <a:endParaRPr lang="en-US" sz="2000" dirty="0"/>
          </a:p>
        </p:txBody>
      </p:sp>
      <p:sp>
        <p:nvSpPr>
          <p:cNvPr id="12" name="tarjeta_resultado_4"/>
          <p:cNvSpPr/>
          <p:nvPr/>
        </p:nvSpPr>
        <p:spPr>
          <a:xfrm>
            <a:off x="9784080" y="1097280"/>
            <a:ext cx="1947672" cy="2194560"/>
          </a:xfrm>
          <a:prstGeom prst="roundRect">
            <a:avLst>
              <a:gd name="adj" fmla="val 563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cifra_resultado_4"/>
          <p:cNvSpPr txBox="1"/>
          <p:nvPr/>
        </p:nvSpPr>
        <p:spPr>
          <a:xfrm>
            <a:off x="9966960" y="12618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4400" dirty="0"/>
          </a:p>
        </p:txBody>
      </p:sp>
      <p:sp>
        <p:nvSpPr>
          <p:cNvPr id="14" name="texto_resultado_4"/>
          <p:cNvSpPr txBox="1"/>
          <p:nvPr/>
        </p:nvSpPr>
        <p:spPr>
          <a:xfrm>
            <a:off x="9966960" y="1993392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mar–may; sin mejora concluyente en lluvias</a:t>
            </a:r>
            <a:endParaRPr lang="en-US" sz="2000" dirty="0"/>
          </a:p>
        </p:txBody>
      </p:sp>
      <p:sp>
        <p:nvSpPr>
          <p:cNvPr id="15" name="tecnicas"/>
          <p:cNvSpPr txBox="1"/>
          <p:nvPr/>
        </p:nvSpPr>
        <p:spPr>
          <a:xfrm>
            <a:off x="457200" y="347472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(interdependencia): 3 ejes meteorológicos explican el 67 %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(dependencia): M0 estación + temporada frente a M1 + meteorología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2021–2023, prueba 2024–2025; decisiones fijadas antes del ajuste definitivo (ensayo preliminar con 2024–2025, declarado)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asocia con presión baja, más temperatura y menos viento</a:t>
            </a:r>
            <a:endParaRPr lang="en-US" sz="2000" dirty="0"/>
          </a:p>
        </p:txBody>
      </p:sp>
      <p:pic>
        <p:nvPicPr>
          <p:cNvPr id="16" name="dauc_temporada" descr="Mejora del AUC por temporada con intervalos de confianz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3474720"/>
            <a:ext cx="555955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Problemas, qué sigue y valor para SIMA</a:t>
            </a:r>
            <a:endParaRPr lang="en-US" sz="3200" dirty="0"/>
          </a:p>
        </p:txBody>
      </p:sp>
      <p:sp>
        <p:nvSpPr>
          <p:cNvPr id="3" name="problemas"/>
          <p:cNvSpPr txBox="1"/>
          <p:nvPr/>
        </p:nvSpPr>
        <p:spPr>
          <a:xfrm>
            <a:off x="457200" y="10972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imposibles (viento &gt; 100 km/h, radiación nocturna): reglas nuevas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equipos (2021, 2025) y 6 estaciones reubicadas (2021–22): revisados, no cambian la conclusión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desigual entre estaciones</a:t>
            </a:r>
            <a:endParaRPr lang="en-US" sz="2200" dirty="0"/>
          </a:p>
        </p:txBody>
      </p:sp>
      <p:sp>
        <p:nvSpPr>
          <p:cNvPr id="4" name="que_sigue"/>
          <p:cNvSpPr txBox="1"/>
          <p:nvPr/>
        </p:nvSpPr>
        <p:spPr>
          <a:xfrm>
            <a:off x="457200" y="4023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 · etapa 4 (24 oct)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probabilidades y cortes por estación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las respuestas de SIMA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probar con meteorología pronosticada</a:t>
            </a:r>
            <a:endParaRPr lang="en-US" sz="2200" dirty="0"/>
          </a:p>
        </p:txBody>
      </p:sp>
      <p:sp>
        <p:nvSpPr>
          <p:cNvPr id="5" name="tarjeta_app"/>
          <p:cNvSpPr/>
          <p:nvPr/>
        </p:nvSpPr>
        <p:spPr>
          <a:xfrm>
            <a:off x="5257800" y="1143000"/>
            <a:ext cx="2788920" cy="4983480"/>
          </a:xfrm>
          <a:prstGeom prst="roundRect">
            <a:avLst>
              <a:gd name="adj" fmla="val 393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" name="titulo_app"/>
          <p:cNvSpPr txBox="1"/>
          <p:nvPr/>
        </p:nvSpPr>
        <p:spPr>
          <a:xfrm>
            <a:off x="5422392" y="1261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Hecho: interfaz Shiny</a:t>
            </a:r>
            <a:endParaRPr lang="en-US" sz="2200" dirty="0"/>
          </a:p>
        </p:txBody>
      </p:sp>
      <p:pic>
        <p:nvPicPr>
          <p:cNvPr id="7" name="captura_app" descr="Captura de la interfaz Shiny: pestaña Calc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83080"/>
            <a:ext cx="2514600" cy="2323490"/>
          </a:xfrm>
          <a:prstGeom prst="rect">
            <a:avLst/>
          </a:prstGeom>
        </p:spPr>
      </p:pic>
      <p:sp>
        <p:nvSpPr>
          <p:cNvPr id="8" name="pie_app"/>
          <p:cNvSpPr txBox="1"/>
          <p:nvPr/>
        </p:nvSpPr>
        <p:spPr>
          <a:xfrm>
            <a:off x="5422392" y="42062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Estación, temporada y meteorología → probabilidad de superación</a:t>
            </a:r>
            <a:endParaRPr lang="en-US" sz="2000" dirty="0"/>
          </a:p>
        </p:txBody>
      </p:sp>
      <p:sp>
        <p:nvSpPr>
          <p:cNvPr id="9" name="tarjeta_para_sima"/>
          <p:cNvSpPr/>
          <p:nvPr/>
        </p:nvSpPr>
        <p:spPr>
          <a:xfrm>
            <a:off x="8183880" y="1143000"/>
            <a:ext cx="3547872" cy="4983480"/>
          </a:xfrm>
          <a:prstGeom prst="roundRect">
            <a:avLst>
              <a:gd name="adj" fmla="val 309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acento_para_sima"/>
          <p:cNvSpPr/>
          <p:nvPr/>
        </p:nvSpPr>
        <p:spPr>
          <a:xfrm>
            <a:off x="8366760" y="1344168"/>
            <a:ext cx="73152" cy="457200"/>
          </a:xfrm>
          <a:prstGeom prst="rect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11" name="titulo_para_sima"/>
          <p:cNvSpPr txBox="1"/>
          <p:nvPr/>
        </p:nvSpPr>
        <p:spPr>
          <a:xfrm>
            <a:off x="854964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SIMA</a:t>
            </a:r>
            <a:endParaRPr lang="en-US" sz="3200" dirty="0"/>
          </a:p>
        </p:txBody>
      </p:sp>
      <p:sp>
        <p:nvSpPr>
          <p:cNvPr id="12" name="texto_para_sima"/>
          <p:cNvSpPr txBox="1"/>
          <p:nvPr/>
        </p:nvSpPr>
        <p:spPr>
          <a:xfrm>
            <a:off x="8366760" y="196596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meteorología ayuda sobre todo en mar–may: base para una alerta con pronóstico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reglas de control de calidad que detectaron sensores con fallas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limpia y código abiertos, reproducibles</a:t>
            </a:r>
            <a:endParaRPr lang="en-US" sz="2000" dirty="0"/>
          </a:p>
        </p:txBody>
      </p:sp>
      <p:sp>
        <p:nvSpPr>
          <p:cNvPr id="13" name="enlace_repositorio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app: </a:t>
            </a:r>
            <a:pPr indent="0" marL="0">
              <a:buNone/>
            </a:pPr>
            <a:r>
              <a:rPr lang="en-US" sz="2000" u="sng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github.com/Leo-issacs/reto-sima-multivariados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Reto SIMA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¿Cuánto ayuda la meteorología del día a identificar los días de PM2.5 alto en Monterrey?</dc:title>
  <dc:subject>PptxGenJS Presentation</dc:subject>
  <dc:creator>Equipo 1 · Grupo 201 · MA2003B</dc:creator>
  <cp:lastModifiedBy>Equipo 1 · Grupo 201 · MA2003B</cp:lastModifiedBy>
  <cp:revision>1</cp:revision>
  <dcterms:created xsi:type="dcterms:W3CDTF">2026-10-16T01:10:07Z</dcterms:created>
  <dcterms:modified xsi:type="dcterms:W3CDTF">2026-10-16T01:10:07Z</dcterms:modified>
</cp:coreProperties>
</file>