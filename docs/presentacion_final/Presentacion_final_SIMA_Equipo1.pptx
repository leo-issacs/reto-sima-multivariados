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85C17BAE-88C8-D7F4-CE2A-001C11A13811}">
          <p14:sldIdLst>
            <p14:sldId id="256"/>
          </p14:sldIdLst>
        </p14:section>
        <p14:section name="Problema y datos" id="{7EED65C2-3FEC-3C61-8B9D-8CAD03FDE6A5}">
          <p14:sldIdLst>
            <p14:sldId id="257"/>
            <p14:sldId id="258"/>
            <p14:sldId id="259"/>
            <p14:sldId id="260"/>
          </p14:sldIdLst>
        </p14:section>
        <p14:section name="Método" id="{FBA8FF12-ED9C-8220-2B35-04058EDAE1ED}">
          <p14:sldIdLst>
            <p14:sldId id="261"/>
            <p14:sldId id="262"/>
          </p14:sldIdLst>
        </p14:section>
        <p14:section name="Resultados" id="{276F8733-2B19-3200-4FC5-AB7AC87EDB15}">
          <p14:sldIdLst>
            <p14:sldId id="263"/>
            <p14:sldId id="264"/>
            <p14:sldId id="265"/>
          </p14:sldIdLst>
        </p14:section>
        <p14:section name="Cierre" id="{D53E690F-21BB-D24D-D696-0D6AA8B35F41}">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78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1 del grupo 201 y trabajamos con SIMA y la Agencia de Calidad del Aire de Nuevo León. Nuestra pregunta es: ¿cuánto mejora la meteorología del día la identificación de días con PM2.5 alto en Monterrey? Ignacio empieza explicando por qué importa.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Respirar PM2.5 durante pocos días ya se asocia con efectos en la salud; un metaanálisis de 196 artículos lo respalda. Para vigilarlo usamos una referencia fija: el límite diario de 25 microgramos por metro cúbico de la NOM-025. Llamamos superación a un día-estación por encima de ese valor. Nuestra pregunta compara dos modelos. M0 solo sabe la estación y la temporada. M1 sabe lo mismo y además la meteorología del día. Lo que medimos es cuánto sube el AUC al pasar de M0 a M1, es decir, cuánto mejora la identificación de días con superación. Esto le sirve a SIMA porque es el paso previo a una alerta con pronóstico: antes de pronosticar, hay que saber si la meteorología aporta algo sobre lo que ya se conoce. Lo evaluamos en 2024 y 2025, años que el modelo no vio al ajustarse. Ahora paso a la zona de estudio.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13 estaciones del SIMA en el valle de Monterrey. En el mapa, cada círculo muestra el porcentaje de días con superación y la etiqueta da la estación y su altitud en metros. Dos cosas se ven de inmediato. Primero, no hay una relación simple con la altitud: Santa Catarina, a 674 metros, y Juárez, a 387, tienen los porcentajes más altos, 44 y 46 por ciento, y están en extremos opuestos del valle. Segundo, el viento dominante viene del este: en 11 de las 13 estaciones el viento tiene componente del este entre el 80 y el 98 por ciento de los días. SIMA nos explicó el contexto de las dos estaciones altas. Juárez es el primer receptor de la pluma de la refinería, además del crecimiento urbano. Santa Catarina tiene zona industrial y es la salida del viento del área metropolitana. Son explicaciones de SIMA; nuestro diseño no permite atribuirlas. Daniel nos presenta los datos.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datos horarios de 2021 a 2025 que convertimos a un registro por estación y día: 17 828 días-estación en el análisis final, con PM2.5 y ocho variables meteorológicas: temperatura, humedad, radiación, presión, viento en dos componentes y su rapidez, y horas con lluvia. A la izquierda, el porcentaje de días con superación por temporada: alrededor de 37 por ciento de noviembre a febrero, 35 de marzo a mayo y solo 11.7 en lluvias. La estación y la temporada ya dicen mucho. A la derecha, un hallazgo que guía el resto: con todos los días juntos, la temperatura es 0.3 grados menor en los días con superación; pero dentro de cada temporada es mayor, entre 0.8 y 3.3 grados. La temperatura solo se asocia con la superación cuando controlamos la temporada. Leo explica qué hicimos con los datos faltantes.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Faltaba el 12.3 por ciento de los datos, y del PM2.5 el 26 por ciento, sobre todo por apagones largos de equipos. Además invalidamos el 0.7 por ciento por inconsistencias. Tomamos tres decisiones. Una: la respuesta, el PM2.5, no se imputa. Un día cuenta solo si tiene al menos 18 horas observadas; imputar la respuesta fabricaría justo lo que queremos clasificar. Dos: la meteorología horaria se imputa con métodos del paquete imputeTS, que vimos en el curso: descomposición estacional, que repite el ciclo del día, o filtro de Kalman, según el tamaño del hueco. Para elegir el método usamos enmascaramiento: tapamos datos que sí conocemos, imputamos y medimos el error. Tres: para la meteorología diaria usamos la mediana de la red ajustada por estación, que superó a MICE, con error relativo de 0.450 frente a 0.593. El resultado es que recuperamos días: García pasa de 511 a 1 532, y en total son 2 438 días más que en la etapa anterior. También quisimos comparar con MIMA-v1, el trabajo de semestres anteriores, pero no tuvimos acceso a su dataset y además imputa la respuesta. Pablo explica cómo analizamos.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ruta tiene cuatro pasos, y cada uno responde una pregunta. Primero, componentes principales, una técnica de interdependencia: nos dice cómo se estructura el clima. Segundo, análisis discriminante lineal y regresión logística, técnicas de dependencia: comparan M0 contra M1 para clasificar días con superación. La logística es nuestra comparación para el LDA. Tercero, validación temporal: entrenamos con 2021 a 2023 y probamos en 2024 y 2025, para saber cómo clasifica en años posteriores. Cuarto, bootstrap por bloques de 14 días, que da la incertidumbre de la mejora respetando que los días cercanos se parecen. Estación y temporada entran como variables indicadoras: 22 predictores en total, con Obispado y la temporada cálida-húmeda como referencia. Todo se ajusta solo con el entrenamiento; la prueba se usa únicamente para evaluar. Veamos el primer paso.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componentes principales resumen cómo varía el clima, medido como anomalía respecto de la media de cada estación. Tres ejes explican el 66.5 por ciento de la varianza: día cálido, soleado y ventilado, 36 por ciento; día húmedo y lluvioso, 17; y día de presión baja y poco viento, 13. Los nombres son los del informe. La adecuación es modesta, KMO de 0.64, así que lo usamos de forma exploratoria. Y no lo usamos para predecir: el primer eje, el del día cálido, soleado y ventilado, mezcla temperatura y viento, que se asocian con la superación en sentidos contrarios, y maximizar varianza no es maximizar separación entre clases. Leo presenta el resultado principal.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principal, en la prueba de 2024 y 2025. Con LDA, el AUC pasa de 0.713 con M0 a 0.792 con M1. Con regresión logística, de 0.721 a 0.792. La mejora, ΔAUC, es de 0.079 con intervalo de 95 por ciento de 0.054 a 0.104 para el LDA, y 0.071, de 0.047 a 0.095, para la logística. Ningún intervalo incluye el cero. En términos concretos, M1 detecta el 74 por ciento de los días-estación con superación, contra 56 por ciento de M0. La especificidad casi no cambia: 0.68 frente a 0.70. Una aclaración importante: el AUC no es un porcentaje de aciertos. Es la probabilidad de que, si tomamos al azar un día con superación y uno sin superación, el modelo le dé el puntaje más alto al que sí superó. Con 0.5 sería azar y con 1, perfecto. Las curvas muestran que la naranja, M1, queda por encima de la azul en casi todo el recorrido; los círculos marcan el corte de 0.259. Los intervalos salen de un bootstrap por bloques de 14 días con 1 000 réplicas. Daniel explica cuándo mejora más.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mejora no es pareja. Por temporada, de marzo a mayo el ΔAUC es de 0.151, con intervalo de 0.102 a 0.193: ahí la temporada por sí sola dice poco y el clima ayuda más. De noviembre a febrero es 0.069. En lluvias, 0.039, y su intervalo incluye el cero, así que no se distingue de cero; en esa temporada solo el 9.7 por ciento de los días supera. A la derecha, la regresión logística: odds ratios por cada desviación estándar, solo para variables cuyo signo se mantiene en el bootstrap. Con las demás variables constantes, viento más débil, presión más baja de lo normal para ese sitio y más temperatura se asocian con superación: un viento más fuerte tiene odds ratio de 0.49, una presión más alta, 0.58, y más temperatura, 1.78. Radiación y lluvia también tienen signo estable, pero pesan poco. Y una advertencia: es asociación, no causa, y no interpretamos humedad ni las componentes u y v, cuyo signo no es estable. Ahora vemos si el clima le gana al PM2.5 de ayer.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natural de SIMA es si el PM2.5 de ayer no basta. Comparamos con la persistencia en los días que tienen dato de ayer: M0 0.712, M1 0.792, el modelo con solo PM2.5 de ayer 0.872, y con ambos 0.887. Es decir: el PM2.5 de ayer predice más que el clima del día, con una diferencia de menos 0.080. Pero el clima sí agrega sobre ayer: 0.016, con intervalo de 0.008 a 0.025. Es pequeño, pero distinguible de cero. La comparación es retrospectiva: ayer sí se conoce antes, el clima observado de hoy no. A la derecha, el umbral. Elegimos el corte con los años de validación, antes de ver la prueba, con un objetivo explícito: detectar al menos el 80 por ciento. Salió 0.182. En la prueba detecta el 84 por ciento de las superaciones, con 1.46 falsas alarmas por cada detección, y marca el 54 por ciento de los días. Es un modo de vigilancia; el corte de equilibrio, 0.262, marca menos días. Pablo expone los límites.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Queremos ser honestos con los supuestos. El LDA supone normalidad multivariada y covarianzas iguales: la prueba de Mardia y la M de Box dicen que no se cumplen, y era de esperarse con indicadoras de estación y temporada. Por eso lo usamos como clasificador lineal y no como modelo generativo bien especificado, y la evidencia es empírica: validación temporal y comparación con la logística, que da la misma conclusión; la QDA tampoco mejora. Segundo, la dependencia: los residuos siguen autocorrelacionados, 0.42 a un día. El bootstrap por bloques estima la incertidumbre respetando esa dependencia, pero no la elimina, y por eso no interpretamos los errores estándar usuales. Tercero, la prueba ya se usó en etapas anteriores. Cuarto, las exclusiones pueden sesgar. Y quinto, el análisis es retrospectivo, no pronóstico. Ignacio cierra.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Respondemos la pregunta. Sí, la meteorología del día mejora la identificación, en esta medida: el AUC sube 0.079, de 0.713 a 0.792, y la detección de superaciones pasa de 56 a 74 por ciento, con intervalos que no incluyen el cero y resultados parecidos en todas las variantes, de 0.071 a 0.082. Queda débil lo siguiente: la mejora casi no aparece en lluvias, es retrospectiva porque usa clima observado, las probabilidades no están calibradas, y el PM2.5 de ayer predice más que el clima. Para SIMA recomendamos, en orden de prioridad: uno, evaluar el modelo con meteorología pronosticada, junto con su área de pronósticos; dos, incorporar las reglas de control de calidad, como radiación de madrugada y viento contra la red; y tres, revisar los sensores señalados: la radiación de García y Escobedo, y el PM2.5 de García de 2023 a 2025. Todo el código está en el repositorio, con la etiqueta entrega-final; ahí está el código QR. Gracias; estamos listos para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rtlCol="0"/>
          <a:lstStyle>
            <a:lvl1pPr marL="0" indent="0" algn="l">
              <a:buNone/>
              <a:defRPr lang="en-US" sz="3200" b="1" dirty="0">
                <a:solidFill>
                  <a:schemeClr val="tx2"/>
                </a:solidFill>
                <a:latin typeface="Calibri" pitchFamily="34" charset="0"/>
                <a:ea typeface="Calibri" pitchFamily="34" charset="-122"/>
                <a:cs typeface="Calibri"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rjeta portada"/>
          <p:cNvSpPr/>
          <p:nvPr/>
        </p:nvSpPr>
        <p:spPr>
          <a:xfrm>
            <a:off x="1417320" y="1097280"/>
            <a:ext cx="9354312" cy="4663440"/>
          </a:xfrm>
          <a:prstGeom prst="roundRect">
            <a:avLst>
              <a:gd name="adj" fmla="val 274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3" name="Sello sol"/>
          <p:cNvSpPr/>
          <p:nvPr/>
        </p:nvSpPr>
        <p:spPr>
          <a:xfrm>
            <a:off x="5733288" y="731520"/>
            <a:ext cx="731520" cy="731520"/>
          </a:xfrm>
          <a:prstGeom prst="ellipse">
            <a:avLst/>
          </a:prstGeom>
          <a:solidFill>
            <a:schemeClr val="bg1"/>
          </a:solidFill>
          <a:ln w="25400">
            <a:solidFill>
              <a:schemeClr val="accent4"/>
            </a:solidFill>
            <a:prstDash val="solid"/>
          </a:ln>
        </p:spPr>
      </p:sp>
      <p:sp>
        <p:nvSpPr>
          <p:cNvPr id="4" name="Sol"/>
          <p:cNvSpPr/>
          <p:nvPr/>
        </p:nvSpPr>
        <p:spPr>
          <a:xfrm>
            <a:off x="5897880" y="896112"/>
            <a:ext cx="402336" cy="402336"/>
          </a:xfrm>
          <a:prstGeom prst="ellipse">
            <a:avLst/>
          </a:prstGeom>
          <a:solidFill>
            <a:schemeClr val="accent3"/>
          </a:solidFill>
          <a:ln w="6350">
            <a:solidFill>
              <a:schemeClr val="accent3"/>
            </a:solidFill>
            <a:prstDash val="solid"/>
          </a:ln>
        </p:spPr>
      </p:sp>
      <p:sp>
        <p:nvSpPr>
          <p:cNvPr id="5" name="Text 3"/>
          <p:cNvSpPr txBox="1"/>
          <p:nvPr/>
        </p:nvSpPr>
        <p:spPr>
          <a:xfrm>
            <a:off x="1737360" y="1600200"/>
            <a:ext cx="8714232" cy="411480"/>
          </a:xfrm>
          <a:prstGeom prst="rect">
            <a:avLst/>
          </a:prstGeom>
          <a:noFill/>
          <a:ln/>
        </p:spPr>
        <p:txBody>
          <a:bodyPr wrap="square" lIns="508" tIns="508" rIns="508" bIns="508" rtlCol="0" anchor="ctr"/>
          <a:lstStyle/>
          <a:p>
            <a:pPr marL="0" indent="0" algn="ctr">
              <a:buNone/>
            </a:pPr>
            <a:r>
              <a:rPr lang="en-US" sz="2000" b="1" dirty="0">
                <a:solidFill>
                  <a:schemeClr val="tx2"/>
                </a:solidFill>
                <a:latin typeface="Calibri" pitchFamily="34" charset="0"/>
                <a:ea typeface="Calibri" pitchFamily="34" charset="-122"/>
                <a:cs typeface="Calibri" pitchFamily="34" charset="-120"/>
              </a:rPr>
              <a:t>Reto SIMA · Equipo 1 · Grupo 201 · MA2003B</a:t>
            </a:r>
            <a:endParaRPr lang="en-US" sz="2000" dirty="0"/>
          </a:p>
        </p:txBody>
      </p:sp>
      <p:sp>
        <p:nvSpPr>
          <p:cNvPr id="6" name="Text 4"/>
          <p:cNvSpPr txBox="1"/>
          <p:nvPr/>
        </p:nvSpPr>
        <p:spPr>
          <a:xfrm>
            <a:off x="1737360" y="2103120"/>
            <a:ext cx="8714232" cy="1828800"/>
          </a:xfrm>
          <a:prstGeom prst="rect">
            <a:avLst/>
          </a:prstGeom>
          <a:noFill/>
          <a:ln/>
        </p:spPr>
        <p:txBody>
          <a:bodyPr wrap="square" lIns="508" tIns="508" rIns="508" bIns="508" rtlCol="0" anchor="ctr"/>
          <a:lstStyle/>
          <a:p>
            <a:pPr marL="0" indent="0" algn="ctr">
              <a:buNone/>
            </a:pPr>
            <a:r>
              <a:rPr lang="en-US" sz="3800" b="1" dirty="0">
                <a:solidFill>
                  <a:schemeClr val="tx2"/>
                </a:solidFill>
                <a:latin typeface="Calibri" pitchFamily="34" charset="0"/>
                <a:ea typeface="Calibri" pitchFamily="34" charset="-122"/>
                <a:cs typeface="Calibri" pitchFamily="34" charset="-120"/>
              </a:rPr>
              <a:t>¿Cuánto mejora la meteorología del día la identificación de días con PM2.5 alto en Monterrey?</a:t>
            </a:r>
            <a:endParaRPr lang="en-US" sz="3800" dirty="0"/>
          </a:p>
        </p:txBody>
      </p:sp>
      <p:sp>
        <p:nvSpPr>
          <p:cNvPr id="7" name="Text 5"/>
          <p:cNvSpPr txBox="1"/>
          <p:nvPr/>
        </p:nvSpPr>
        <p:spPr>
          <a:xfrm>
            <a:off x="1737360" y="4069080"/>
            <a:ext cx="8714232" cy="411480"/>
          </a:xfrm>
          <a:prstGeom prst="rect">
            <a:avLst/>
          </a:prstGeom>
          <a:noFill/>
          <a:ln/>
        </p:spPr>
        <p:txBody>
          <a:bodyPr wrap="square" lIns="508" tIns="508" rIns="508" bIns="508" rtlCol="0" anchor="ctr"/>
          <a:lstStyle/>
          <a:p>
            <a:pPr marL="0" indent="0" algn="ctr">
              <a:buNone/>
            </a:pPr>
            <a:r>
              <a:rPr lang="en-US" sz="2000" dirty="0">
                <a:solidFill>
                  <a:schemeClr val="tx1"/>
                </a:solidFill>
                <a:latin typeface="Calibri" pitchFamily="34" charset="0"/>
                <a:ea typeface="Calibri" pitchFamily="34" charset="-122"/>
                <a:cs typeface="Calibri" pitchFamily="34" charset="-120"/>
              </a:rPr>
              <a:t>Socio formador: SIMA y Agencia de Calidad del Aire de Nuevo León</a:t>
            </a:r>
            <a:endParaRPr lang="en-US" sz="2000" dirty="0"/>
          </a:p>
        </p:txBody>
      </p:sp>
      <p:sp>
        <p:nvSpPr>
          <p:cNvPr id="8" name="Text 6"/>
          <p:cNvSpPr txBox="1"/>
          <p:nvPr/>
        </p:nvSpPr>
        <p:spPr>
          <a:xfrm>
            <a:off x="1737360" y="4572000"/>
            <a:ext cx="8714232" cy="822960"/>
          </a:xfrm>
          <a:prstGeom prst="rect">
            <a:avLst/>
          </a:prstGeom>
          <a:noFill/>
          <a:ln/>
        </p:spPr>
        <p:txBody>
          <a:bodyPr wrap="square" lIns="508" tIns="508" rIns="508" bIns="508" rtlCol="0" anchor="ctr"/>
          <a:lstStyle/>
          <a:p>
            <a:pPr marL="0" indent="0" algn="ctr">
              <a:buNone/>
            </a:pPr>
            <a:r>
              <a:rPr lang="en-US" sz="2200" b="1" dirty="0">
                <a:solidFill>
                  <a:schemeClr val="tx1"/>
                </a:solidFill>
                <a:latin typeface="Calibri" pitchFamily="34" charset="0"/>
                <a:ea typeface="Calibri" pitchFamily="34" charset="-122"/>
                <a:cs typeface="Calibri" pitchFamily="34" charset="-120"/>
              </a:rPr>
              <a:t>Leonardo Orozco · Pablo Alonso Robles Nava · Daniel Ayala · Ignacio Kume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La pregunta: ¿cuánto agrega el clima del día a conocer estación y temporada?</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Ignacio</a:t>
            </a:r>
            <a:endParaRPr lang="en-US" sz="2000" dirty="0"/>
          </a:p>
        </p:txBody>
      </p:sp>
      <p:sp>
        <p:nvSpPr>
          <p:cNvPr id="6" name="Tarjeta salud"/>
          <p:cNvSpPr/>
          <p:nvPr/>
        </p:nvSpPr>
        <p:spPr>
          <a:xfrm>
            <a:off x="548640" y="1508760"/>
            <a:ext cx="5394960" cy="1463040"/>
          </a:xfrm>
          <a:prstGeom prst="roundRect">
            <a:avLst>
              <a:gd name="adj" fmla="val 875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Text 5"/>
          <p:cNvSpPr txBox="1"/>
          <p:nvPr/>
        </p:nvSpPr>
        <p:spPr>
          <a:xfrm>
            <a:off x="777240" y="1645920"/>
            <a:ext cx="4937760" cy="365760"/>
          </a:xfrm>
          <a:prstGeom prst="rect">
            <a:avLst/>
          </a:prstGeom>
          <a:noFill/>
          <a:ln/>
        </p:spPr>
        <p:txBody>
          <a:bodyPr wrap="square" lIns="508" tIns="508" rIns="508" bIns="508" rtlCol="0" anchor="t"/>
          <a:lstStyle/>
          <a:p>
            <a:pPr marL="0" indent="0">
              <a:buNone/>
            </a:pPr>
            <a:r>
              <a:rPr lang="en-US" sz="2200" b="1" dirty="0">
                <a:solidFill>
                  <a:schemeClr val="tx2"/>
                </a:solidFill>
                <a:latin typeface="Calibri" pitchFamily="34" charset="0"/>
                <a:ea typeface="Calibri" pitchFamily="34" charset="-122"/>
                <a:cs typeface="Calibri" pitchFamily="34" charset="-120"/>
              </a:rPr>
              <a:t>Pocos días de exposición</a:t>
            </a:r>
            <a:endParaRPr lang="en-US" sz="2200" dirty="0"/>
          </a:p>
        </p:txBody>
      </p:sp>
      <p:sp>
        <p:nvSpPr>
          <p:cNvPr id="8" name="Text 6"/>
          <p:cNvSpPr txBox="1"/>
          <p:nvPr/>
        </p:nvSpPr>
        <p:spPr>
          <a:xfrm>
            <a:off x="777240" y="2057400"/>
            <a:ext cx="4937760" cy="82296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al PM2.5 ya se asocian con daños a la salud (metaanálisis de 196 artículos)</a:t>
            </a:r>
            <a:endParaRPr lang="en-US" sz="2000" dirty="0"/>
          </a:p>
        </p:txBody>
      </p:sp>
      <p:sp>
        <p:nvSpPr>
          <p:cNvPr id="9" name="Tarjeta umbral"/>
          <p:cNvSpPr/>
          <p:nvPr/>
        </p:nvSpPr>
        <p:spPr>
          <a:xfrm>
            <a:off x="548640" y="3108960"/>
            <a:ext cx="5394960" cy="1463040"/>
          </a:xfrm>
          <a:prstGeom prst="roundRect">
            <a:avLst>
              <a:gd name="adj" fmla="val 875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0" name="Text 8"/>
          <p:cNvSpPr txBox="1"/>
          <p:nvPr/>
        </p:nvSpPr>
        <p:spPr>
          <a:xfrm>
            <a:off x="777240" y="3291840"/>
            <a:ext cx="1280160" cy="1097280"/>
          </a:xfrm>
          <a:prstGeom prst="rect">
            <a:avLst/>
          </a:prstGeom>
          <a:noFill/>
          <a:ln/>
        </p:spPr>
        <p:txBody>
          <a:bodyPr wrap="square" lIns="508" tIns="508" rIns="508" bIns="508" rtlCol="0" anchor="ctr"/>
          <a:lstStyle/>
          <a:p>
            <a:pPr marL="0" indent="0">
              <a:buNone/>
            </a:pPr>
            <a:r>
              <a:rPr lang="en-US" sz="6600" b="1" dirty="0">
                <a:solidFill>
                  <a:schemeClr val="accent2"/>
                </a:solidFill>
                <a:latin typeface="Calibri" pitchFamily="34" charset="0"/>
                <a:ea typeface="Calibri" pitchFamily="34" charset="-122"/>
                <a:cs typeface="Calibri" pitchFamily="34" charset="-120"/>
              </a:rPr>
              <a:t>25</a:t>
            </a:r>
            <a:endParaRPr lang="en-US" sz="6600" dirty="0"/>
          </a:p>
        </p:txBody>
      </p:sp>
      <p:sp>
        <p:nvSpPr>
          <p:cNvPr id="11" name="Text 9"/>
          <p:cNvSpPr txBox="1"/>
          <p:nvPr/>
        </p:nvSpPr>
        <p:spPr>
          <a:xfrm>
            <a:off x="2148840" y="3291840"/>
            <a:ext cx="3657600" cy="1143000"/>
          </a:xfrm>
          <a:prstGeom prst="rect">
            <a:avLst/>
          </a:prstGeom>
          <a:noFill/>
          <a:ln/>
        </p:spPr>
        <p:txBody>
          <a:bodyPr wrap="square" lIns="508" tIns="508" rIns="508" bIns="508" rtlCol="0" anchor="ctr"/>
          <a:lstStyle/>
          <a:p>
            <a:pPr marL="0" indent="0">
              <a:buNone/>
            </a:pPr>
            <a:r>
              <a:rPr lang="en-US" sz="2200" b="1" dirty="0">
                <a:solidFill>
                  <a:schemeClr val="tx2"/>
                </a:solidFill>
                <a:latin typeface="Calibri" pitchFamily="34" charset="0"/>
                <a:ea typeface="Calibri" pitchFamily="34" charset="-122"/>
                <a:cs typeface="Calibri" pitchFamily="34" charset="-120"/>
              </a:rPr>
              <a:t>µg/m³ al día</a:t>
            </a:r>
            <a:endParaRPr lang="en-US" sz="2000" dirty="0"/>
          </a:p>
          <a:p>
            <a:pPr marL="0" indent="0">
              <a:buNone/>
            </a:pPr>
            <a:r>
              <a:rPr lang="en-US" sz="2000" dirty="0">
                <a:solidFill>
                  <a:schemeClr val="tx1"/>
                </a:solidFill>
                <a:latin typeface="Calibri" pitchFamily="34" charset="0"/>
                <a:ea typeface="Calibri" pitchFamily="34" charset="-122"/>
                <a:cs typeface="Calibri" pitchFamily="34" charset="-120"/>
              </a:rPr>
              <a:t>Límite de la NOM-025: nuestra referencia fija</a:t>
            </a:r>
            <a:endParaRPr lang="en-US" sz="2000" dirty="0"/>
          </a:p>
        </p:txBody>
      </p:sp>
      <p:sp>
        <p:nvSpPr>
          <p:cNvPr id="12" name="Tarjeta SIMA"/>
          <p:cNvSpPr/>
          <p:nvPr/>
        </p:nvSpPr>
        <p:spPr>
          <a:xfrm>
            <a:off x="548640" y="4709160"/>
            <a:ext cx="5394960" cy="1463040"/>
          </a:xfrm>
          <a:prstGeom prst="roundRect">
            <a:avLst>
              <a:gd name="adj" fmla="val 875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3" name="Text 11"/>
          <p:cNvSpPr txBox="1"/>
          <p:nvPr/>
        </p:nvSpPr>
        <p:spPr>
          <a:xfrm>
            <a:off x="777240" y="4846320"/>
            <a:ext cx="4937760" cy="365760"/>
          </a:xfrm>
          <a:prstGeom prst="rect">
            <a:avLst/>
          </a:prstGeom>
          <a:noFill/>
          <a:ln/>
        </p:spPr>
        <p:txBody>
          <a:bodyPr wrap="square" lIns="508" tIns="508" rIns="508" bIns="508" rtlCol="0" anchor="t"/>
          <a:lstStyle/>
          <a:p>
            <a:pPr marL="0" indent="0">
              <a:buNone/>
            </a:pPr>
            <a:r>
              <a:rPr lang="en-US" sz="2200" b="1" dirty="0">
                <a:solidFill>
                  <a:schemeClr val="tx2"/>
                </a:solidFill>
                <a:latin typeface="Calibri" pitchFamily="34" charset="0"/>
                <a:ea typeface="Calibri" pitchFamily="34" charset="-122"/>
                <a:cs typeface="Calibri" pitchFamily="34" charset="-120"/>
              </a:rPr>
              <a:t>Para SIMA</a:t>
            </a:r>
            <a:endParaRPr lang="en-US" sz="2200" dirty="0"/>
          </a:p>
        </p:txBody>
      </p:sp>
      <p:sp>
        <p:nvSpPr>
          <p:cNvPr id="14" name="Text 12"/>
          <p:cNvSpPr txBox="1"/>
          <p:nvPr/>
        </p:nvSpPr>
        <p:spPr>
          <a:xfrm>
            <a:off x="777240" y="5257800"/>
            <a:ext cx="4937760" cy="82296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Es el paso previo a una alerta con pronóstico</a:t>
            </a:r>
            <a:endParaRPr lang="en-US" sz="2000" dirty="0"/>
          </a:p>
        </p:txBody>
      </p:sp>
      <p:sp>
        <p:nvSpPr>
          <p:cNvPr id="15" name="Tarjeta pregunta"/>
          <p:cNvSpPr/>
          <p:nvPr/>
        </p:nvSpPr>
        <p:spPr>
          <a:xfrm>
            <a:off x="6172200" y="1508760"/>
            <a:ext cx="5468112" cy="4663440"/>
          </a:xfrm>
          <a:prstGeom prst="roundRect">
            <a:avLst>
              <a:gd name="adj" fmla="val 274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6" name="Text 14"/>
          <p:cNvSpPr txBox="1"/>
          <p:nvPr/>
        </p:nvSpPr>
        <p:spPr>
          <a:xfrm>
            <a:off x="6400800" y="1645920"/>
            <a:ext cx="5029200" cy="411480"/>
          </a:xfrm>
          <a:prstGeom prst="rect">
            <a:avLst/>
          </a:prstGeom>
          <a:noFill/>
          <a:ln/>
        </p:spPr>
        <p:txBody>
          <a:bodyPr wrap="square" lIns="508" tIns="508" rIns="508" bIns="508" rtlCol="0" anchor="t"/>
          <a:lstStyle/>
          <a:p>
            <a:pPr marL="0" indent="0">
              <a:buNone/>
            </a:pPr>
            <a:r>
              <a:rPr lang="en-US" sz="2400" b="1" dirty="0">
                <a:solidFill>
                  <a:schemeClr val="tx2"/>
                </a:solidFill>
                <a:latin typeface="Calibri" pitchFamily="34" charset="0"/>
                <a:ea typeface="Calibri" pitchFamily="34" charset="-122"/>
                <a:cs typeface="Calibri" pitchFamily="34" charset="-120"/>
              </a:rPr>
              <a:t>Dos modelos, una diferencia</a:t>
            </a:r>
            <a:endParaRPr lang="en-US" sz="2400" dirty="0"/>
          </a:p>
        </p:txBody>
      </p:sp>
      <p:sp>
        <p:nvSpPr>
          <p:cNvPr id="17" name="Cinta M0"/>
          <p:cNvSpPr/>
          <p:nvPr/>
        </p:nvSpPr>
        <p:spPr>
          <a:xfrm>
            <a:off x="6400800" y="2194560"/>
            <a:ext cx="5010912" cy="777240"/>
          </a:xfrm>
          <a:prstGeom prst="roundRect">
            <a:avLst>
              <a:gd name="adj" fmla="val 14118"/>
            </a:avLst>
          </a:prstGeom>
          <a:solidFill>
            <a:schemeClr val="accent1"/>
          </a:solidFill>
          <a:ln w="6350">
            <a:solidFill>
              <a:schemeClr val="accent1"/>
            </a:solidFill>
            <a:prstDash val="solid"/>
          </a:ln>
        </p:spPr>
      </p:sp>
      <p:sp>
        <p:nvSpPr>
          <p:cNvPr id="18" name="Text 16"/>
          <p:cNvSpPr txBox="1"/>
          <p:nvPr/>
        </p:nvSpPr>
        <p:spPr>
          <a:xfrm>
            <a:off x="6583680" y="2194560"/>
            <a:ext cx="4663440" cy="777240"/>
          </a:xfrm>
          <a:prstGeom prst="rect">
            <a:avLst/>
          </a:prstGeom>
          <a:noFill/>
          <a:ln/>
        </p:spPr>
        <p:txBody>
          <a:bodyPr wrap="square" lIns="508" tIns="508" rIns="508" bIns="508" rtlCol="0" anchor="ctr"/>
          <a:lstStyle/>
          <a:p>
            <a:pPr marL="0" indent="0">
              <a:buNone/>
            </a:pPr>
            <a:r>
              <a:rPr lang="en-US" sz="2400" b="1" dirty="0">
                <a:solidFill>
                  <a:schemeClr val="bg1"/>
                </a:solidFill>
                <a:latin typeface="Calibri" pitchFamily="34" charset="0"/>
                <a:ea typeface="Calibri" pitchFamily="34" charset="-122"/>
                <a:cs typeface="Calibri" pitchFamily="34" charset="-120"/>
              </a:rPr>
              <a:t>M0  </a:t>
            </a:r>
            <a:r>
              <a:rPr lang="en-US" sz="2400" dirty="0">
                <a:solidFill>
                  <a:schemeClr val="bg1"/>
                </a:solidFill>
                <a:latin typeface="Calibri" pitchFamily="34" charset="0"/>
                <a:ea typeface="Calibri" pitchFamily="34" charset="-122"/>
                <a:cs typeface="Calibri" pitchFamily="34" charset="-120"/>
              </a:rPr>
              <a:t>estación + temporada</a:t>
            </a:r>
            <a:endParaRPr lang="en-US" sz="2400" dirty="0"/>
          </a:p>
        </p:txBody>
      </p:sp>
      <p:sp>
        <p:nvSpPr>
          <p:cNvPr id="19" name="Cinta M1"/>
          <p:cNvSpPr/>
          <p:nvPr/>
        </p:nvSpPr>
        <p:spPr>
          <a:xfrm>
            <a:off x="6400800" y="3108960"/>
            <a:ext cx="5010912" cy="777240"/>
          </a:xfrm>
          <a:prstGeom prst="roundRect">
            <a:avLst>
              <a:gd name="adj" fmla="val 14118"/>
            </a:avLst>
          </a:prstGeom>
          <a:solidFill>
            <a:schemeClr val="accent2"/>
          </a:solidFill>
          <a:ln w="6350">
            <a:solidFill>
              <a:schemeClr val="accent2"/>
            </a:solidFill>
            <a:prstDash val="solid"/>
          </a:ln>
        </p:spPr>
      </p:sp>
      <p:sp>
        <p:nvSpPr>
          <p:cNvPr id="20" name="Text 18"/>
          <p:cNvSpPr txBox="1"/>
          <p:nvPr/>
        </p:nvSpPr>
        <p:spPr>
          <a:xfrm>
            <a:off x="6583680" y="3108960"/>
            <a:ext cx="4663440" cy="777240"/>
          </a:xfrm>
          <a:prstGeom prst="rect">
            <a:avLst/>
          </a:prstGeom>
          <a:noFill/>
          <a:ln/>
        </p:spPr>
        <p:txBody>
          <a:bodyPr wrap="square" lIns="508" tIns="508" rIns="508" bIns="508" rtlCol="0" anchor="ctr"/>
          <a:lstStyle/>
          <a:p>
            <a:pPr marL="0" indent="0">
              <a:buNone/>
            </a:pPr>
            <a:r>
              <a:rPr lang="en-US" sz="2400" b="1" dirty="0">
                <a:solidFill>
                  <a:schemeClr val="bg1"/>
                </a:solidFill>
                <a:latin typeface="Calibri" pitchFamily="34" charset="0"/>
                <a:ea typeface="Calibri" pitchFamily="34" charset="-122"/>
                <a:cs typeface="Calibri" pitchFamily="34" charset="-120"/>
              </a:rPr>
              <a:t>M1  </a:t>
            </a:r>
            <a:r>
              <a:rPr lang="en-US" sz="2400" dirty="0">
                <a:solidFill>
                  <a:schemeClr val="bg1"/>
                </a:solidFill>
                <a:latin typeface="Calibri" pitchFamily="34" charset="0"/>
                <a:ea typeface="Calibri" pitchFamily="34" charset="-122"/>
                <a:cs typeface="Calibri" pitchFamily="34" charset="-120"/>
              </a:rPr>
              <a:t>M0 + meteorología del día</a:t>
            </a:r>
            <a:endParaRPr lang="en-US" sz="2400" dirty="0"/>
          </a:p>
        </p:txBody>
      </p:sp>
      <p:sp>
        <p:nvSpPr>
          <p:cNvPr id="21" name="Text 19"/>
          <p:cNvSpPr txBox="1"/>
          <p:nvPr/>
        </p:nvSpPr>
        <p:spPr>
          <a:xfrm>
            <a:off x="6400800" y="4069080"/>
            <a:ext cx="5010912" cy="502920"/>
          </a:xfrm>
          <a:prstGeom prst="rect">
            <a:avLst/>
          </a:prstGeom>
          <a:noFill/>
          <a:ln/>
        </p:spPr>
        <p:txBody>
          <a:bodyPr wrap="square" lIns="508" tIns="508" rIns="508" bIns="508" rtlCol="0" anchor="ctr"/>
          <a:lstStyle/>
          <a:p>
            <a:pPr marL="0" indent="0" algn="ctr">
              <a:buNone/>
            </a:pPr>
            <a:r>
              <a:rPr lang="en-US" sz="2600" b="1" dirty="0">
                <a:solidFill>
                  <a:schemeClr val="tx2"/>
                </a:solidFill>
                <a:latin typeface="Calibri" pitchFamily="34" charset="0"/>
                <a:ea typeface="Calibri" pitchFamily="34" charset="-122"/>
                <a:cs typeface="Calibri" pitchFamily="34" charset="-120"/>
              </a:rPr>
              <a:t>Mejora = AUC(M1) − AUC(M0)</a:t>
            </a:r>
            <a:endParaRPr lang="en-US" sz="2600" dirty="0"/>
          </a:p>
        </p:txBody>
      </p:sp>
      <p:sp>
        <p:nvSpPr>
          <p:cNvPr id="22" name="Text 20"/>
          <p:cNvSpPr txBox="1"/>
          <p:nvPr/>
        </p:nvSpPr>
        <p:spPr>
          <a:xfrm>
            <a:off x="6400800" y="4663440"/>
            <a:ext cx="5010912" cy="137160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Objetivo: medir cuánto sube la identificación de días con PM2.5 &gt; 25 µg/m³ en 2024–2025</a:t>
            </a:r>
            <a:endParaRPr lang="en-US" sz="20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Las superaciones se concentran en Juárez (SE2) y Santa Catarina (SO), no en una altitud</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Ignacio</a:t>
            </a:r>
            <a:endParaRPr lang="en-US" sz="2000" dirty="0"/>
          </a:p>
        </p:txBody>
      </p:sp>
      <p:sp>
        <p:nvSpPr>
          <p:cNvPr id="6" name="Tarjeta mapa"/>
          <p:cNvSpPr/>
          <p:nvPr/>
        </p:nvSpPr>
        <p:spPr>
          <a:xfrm>
            <a:off x="548640" y="1371600"/>
            <a:ext cx="11091672" cy="4251960"/>
          </a:xfrm>
          <a:prstGeom prst="roundRect">
            <a:avLst>
              <a:gd name="adj" fmla="val 301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pic>
        <p:nvPicPr>
          <p:cNvPr id="7" name="pres_mapa.png" descr="Mapa de las 13 estaciones con altitud y porcentaje de días con superación"/>
          <p:cNvPicPr>
            <a:picLocks noChangeAspect="1"/>
          </p:cNvPicPr>
          <p:nvPr/>
        </p:nvPicPr>
        <p:blipFill>
          <a:blip r:embed="rId3"/>
          <a:stretch>
            <a:fillRect/>
          </a:stretch>
        </p:blipFill>
        <p:spPr>
          <a:xfrm>
            <a:off x="653796" y="1417320"/>
            <a:ext cx="10881360" cy="3749040"/>
          </a:xfrm>
          <a:prstGeom prst="rect">
            <a:avLst/>
          </a:prstGeom>
        </p:spPr>
      </p:pic>
      <p:sp>
        <p:nvSpPr>
          <p:cNvPr id="8" name="Text 5"/>
          <p:cNvSpPr txBox="1"/>
          <p:nvPr/>
        </p:nvSpPr>
        <p:spPr>
          <a:xfrm>
            <a:off x="777240" y="5212080"/>
            <a:ext cx="10607040" cy="310896"/>
          </a:xfrm>
          <a:prstGeom prst="rect">
            <a:avLst/>
          </a:prstGeom>
          <a:noFill/>
          <a:ln/>
        </p:spPr>
        <p:txBody>
          <a:bodyPr wrap="square" lIns="508" tIns="508" rIns="508" bIns="508"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Círculo: % de días con PM2.5 &gt; 25 · Etiqueta: estación y altitud (m)</a:t>
            </a:r>
            <a:endParaRPr lang="en-US" sz="1600" dirty="0"/>
          </a:p>
        </p:txBody>
      </p:sp>
      <p:sp>
        <p:nvSpPr>
          <p:cNvPr id="9" name="Tarjeta Flujo del este"/>
          <p:cNvSpPr/>
          <p:nvPr/>
        </p:nvSpPr>
        <p:spPr>
          <a:xfrm>
            <a:off x="548640" y="5760720"/>
            <a:ext cx="3931920" cy="914400"/>
          </a:xfrm>
          <a:prstGeom prst="roundRect">
            <a:avLst>
              <a:gd name="adj" fmla="val 140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0" name="Text 7"/>
          <p:cNvSpPr txBox="1"/>
          <p:nvPr/>
        </p:nvSpPr>
        <p:spPr>
          <a:xfrm>
            <a:off x="685800" y="5806440"/>
            <a:ext cx="3657600" cy="347472"/>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Flujo del este</a:t>
            </a:r>
            <a:endParaRPr lang="en-US" sz="2000" dirty="0"/>
          </a:p>
        </p:txBody>
      </p:sp>
      <p:sp>
        <p:nvSpPr>
          <p:cNvPr id="11" name="Text 8"/>
          <p:cNvSpPr txBox="1"/>
          <p:nvPr/>
        </p:nvSpPr>
        <p:spPr>
          <a:xfrm>
            <a:off x="685800" y="6153912"/>
            <a:ext cx="3657600" cy="45720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En 11 de 13 estaciones (80–98 %)</a:t>
            </a:r>
            <a:endParaRPr lang="en-US" sz="2000" dirty="0"/>
          </a:p>
        </p:txBody>
      </p:sp>
      <p:sp>
        <p:nvSpPr>
          <p:cNvPr id="12" name="Tarjeta SE2 Juárez · 46 %"/>
          <p:cNvSpPr/>
          <p:nvPr/>
        </p:nvSpPr>
        <p:spPr>
          <a:xfrm>
            <a:off x="4539996" y="5760720"/>
            <a:ext cx="3429000" cy="914400"/>
          </a:xfrm>
          <a:prstGeom prst="roundRect">
            <a:avLst>
              <a:gd name="adj" fmla="val 140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3" name="Text 10"/>
          <p:cNvSpPr txBox="1"/>
          <p:nvPr/>
        </p:nvSpPr>
        <p:spPr>
          <a:xfrm>
            <a:off x="4677156" y="5806440"/>
            <a:ext cx="3154680" cy="347472"/>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SE2 Juárez · 46 %</a:t>
            </a:r>
            <a:endParaRPr lang="en-US" sz="2000" dirty="0"/>
          </a:p>
        </p:txBody>
      </p:sp>
      <p:sp>
        <p:nvSpPr>
          <p:cNvPr id="14" name="Text 11"/>
          <p:cNvSpPr txBox="1"/>
          <p:nvPr/>
        </p:nvSpPr>
        <p:spPr>
          <a:xfrm>
            <a:off x="4677156" y="6153912"/>
            <a:ext cx="3154680" cy="45720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Pluma de la refinería (SIMA)</a:t>
            </a:r>
            <a:endParaRPr lang="en-US" sz="2000" dirty="0"/>
          </a:p>
        </p:txBody>
      </p:sp>
      <p:sp>
        <p:nvSpPr>
          <p:cNvPr id="15" name="Tarjeta SO Santa Catarina · 44 %"/>
          <p:cNvSpPr/>
          <p:nvPr/>
        </p:nvSpPr>
        <p:spPr>
          <a:xfrm>
            <a:off x="8028432" y="5760720"/>
            <a:ext cx="3456432" cy="914400"/>
          </a:xfrm>
          <a:prstGeom prst="roundRect">
            <a:avLst>
              <a:gd name="adj" fmla="val 140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6" name="Text 13"/>
          <p:cNvSpPr txBox="1"/>
          <p:nvPr/>
        </p:nvSpPr>
        <p:spPr>
          <a:xfrm>
            <a:off x="8165592" y="5806440"/>
            <a:ext cx="3182112" cy="347472"/>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SO Santa Catarina · 44 %</a:t>
            </a:r>
            <a:endParaRPr lang="en-US" sz="2000" dirty="0"/>
          </a:p>
        </p:txBody>
      </p:sp>
      <p:sp>
        <p:nvSpPr>
          <p:cNvPr id="17" name="Text 14"/>
          <p:cNvSpPr txBox="1"/>
          <p:nvPr/>
        </p:nvSpPr>
        <p:spPr>
          <a:xfrm>
            <a:off x="8165592" y="6153912"/>
            <a:ext cx="3182112" cy="45720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Zona industrial (SIMA)</a:t>
            </a:r>
            <a:endParaRPr lang="en-US" sz="20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La superación depende de la temporada, y la temperatura solo importa dentro de ella</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Daniel</a:t>
            </a:r>
            <a:endParaRPr lang="en-US" sz="2000" dirty="0"/>
          </a:p>
        </p:txBody>
      </p:sp>
      <p:sp>
        <p:nvSpPr>
          <p:cNvPr id="6" name="Dato 17 828"/>
          <p:cNvSpPr/>
          <p:nvPr/>
        </p:nvSpPr>
        <p:spPr>
          <a:xfrm>
            <a:off x="548640" y="1417320"/>
            <a:ext cx="3566160" cy="822960"/>
          </a:xfrm>
          <a:prstGeom prst="roundRect">
            <a:avLst>
              <a:gd name="adj" fmla="val 1555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Text 5"/>
          <p:cNvSpPr txBox="1"/>
          <p:nvPr/>
        </p:nvSpPr>
        <p:spPr>
          <a:xfrm>
            <a:off x="658368" y="1417320"/>
            <a:ext cx="169164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libri" pitchFamily="34" charset="0"/>
                <a:ea typeface="Calibri" pitchFamily="34" charset="-122"/>
                <a:cs typeface="Calibri" pitchFamily="34" charset="-120"/>
              </a:rPr>
              <a:t>17 828</a:t>
            </a:r>
            <a:endParaRPr lang="en-US" sz="4400" dirty="0"/>
          </a:p>
        </p:txBody>
      </p:sp>
      <p:sp>
        <p:nvSpPr>
          <p:cNvPr id="8" name="Text 6"/>
          <p:cNvSpPr txBox="1"/>
          <p:nvPr/>
        </p:nvSpPr>
        <p:spPr>
          <a:xfrm>
            <a:off x="2377440" y="1417320"/>
            <a:ext cx="1645920" cy="8229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días-estación, 2021–2025</a:t>
            </a:r>
            <a:endParaRPr lang="en-US" sz="2000" dirty="0"/>
          </a:p>
        </p:txBody>
      </p:sp>
      <p:sp>
        <p:nvSpPr>
          <p:cNvPr id="9" name="Dato 13"/>
          <p:cNvSpPr/>
          <p:nvPr/>
        </p:nvSpPr>
        <p:spPr>
          <a:xfrm>
            <a:off x="4311396" y="1417320"/>
            <a:ext cx="3566160" cy="822960"/>
          </a:xfrm>
          <a:prstGeom prst="roundRect">
            <a:avLst>
              <a:gd name="adj" fmla="val 1555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0" name="Text 8"/>
          <p:cNvSpPr txBox="1"/>
          <p:nvPr/>
        </p:nvSpPr>
        <p:spPr>
          <a:xfrm>
            <a:off x="4421124" y="1417320"/>
            <a:ext cx="100584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libri" pitchFamily="34" charset="0"/>
                <a:ea typeface="Calibri" pitchFamily="34" charset="-122"/>
                <a:cs typeface="Calibri" pitchFamily="34" charset="-120"/>
              </a:rPr>
              <a:t>13</a:t>
            </a:r>
            <a:endParaRPr lang="en-US" sz="4400" dirty="0"/>
          </a:p>
        </p:txBody>
      </p:sp>
      <p:sp>
        <p:nvSpPr>
          <p:cNvPr id="11" name="Text 9"/>
          <p:cNvSpPr txBox="1"/>
          <p:nvPr/>
        </p:nvSpPr>
        <p:spPr>
          <a:xfrm>
            <a:off x="5180076" y="1417320"/>
            <a:ext cx="2606040" cy="8229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estaciones del SIMA</a:t>
            </a:r>
            <a:endParaRPr lang="en-US" sz="2000" dirty="0"/>
          </a:p>
        </p:txBody>
      </p:sp>
      <p:sp>
        <p:nvSpPr>
          <p:cNvPr id="12" name="Dato 8"/>
          <p:cNvSpPr/>
          <p:nvPr/>
        </p:nvSpPr>
        <p:spPr>
          <a:xfrm>
            <a:off x="8074152" y="1417320"/>
            <a:ext cx="3566160" cy="822960"/>
          </a:xfrm>
          <a:prstGeom prst="roundRect">
            <a:avLst>
              <a:gd name="adj" fmla="val 1555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3" name="Text 11"/>
          <p:cNvSpPr txBox="1"/>
          <p:nvPr/>
        </p:nvSpPr>
        <p:spPr>
          <a:xfrm>
            <a:off x="8183880" y="1417320"/>
            <a:ext cx="100584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libri" pitchFamily="34" charset="0"/>
                <a:ea typeface="Calibri" pitchFamily="34" charset="-122"/>
                <a:cs typeface="Calibri" pitchFamily="34" charset="-120"/>
              </a:rPr>
              <a:t>8</a:t>
            </a:r>
            <a:endParaRPr lang="en-US" sz="4400" dirty="0"/>
          </a:p>
        </p:txBody>
      </p:sp>
      <p:sp>
        <p:nvSpPr>
          <p:cNvPr id="14" name="Text 12"/>
          <p:cNvSpPr txBox="1"/>
          <p:nvPr/>
        </p:nvSpPr>
        <p:spPr>
          <a:xfrm>
            <a:off x="8805672" y="1417320"/>
            <a:ext cx="2743200" cy="82296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variables meteorológicas</a:t>
            </a:r>
            <a:endParaRPr lang="en-US" sz="2000" dirty="0"/>
          </a:p>
        </p:txBody>
      </p:sp>
      <p:sp>
        <p:nvSpPr>
          <p:cNvPr id="15" name="Tarjeta temporada"/>
          <p:cNvSpPr/>
          <p:nvPr/>
        </p:nvSpPr>
        <p:spPr>
          <a:xfrm>
            <a:off x="548640" y="2377440"/>
            <a:ext cx="5394960" cy="4069080"/>
          </a:xfrm>
          <a:prstGeom prst="roundRect">
            <a:avLst>
              <a:gd name="adj" fmla="val 314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6" name="Text 14"/>
          <p:cNvSpPr txBox="1"/>
          <p:nvPr/>
        </p:nvSpPr>
        <p:spPr>
          <a:xfrm>
            <a:off x="731520" y="2450592"/>
            <a:ext cx="5029200"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 de días con superación, por temporada</a:t>
            </a:r>
            <a:endParaRPr lang="en-US" sz="2000" dirty="0"/>
          </a:p>
        </p:txBody>
      </p:sp>
      <p:pic>
        <p:nvPicPr>
          <p:cNvPr id="17" name="pres_superacion_temporada.png" descr="Porcentaje de días-estación con PM2.5 mayor a 25 por temporada"/>
          <p:cNvPicPr>
            <a:picLocks noChangeAspect="1"/>
          </p:cNvPicPr>
          <p:nvPr/>
        </p:nvPicPr>
        <p:blipFill>
          <a:blip r:embed="rId3"/>
          <a:stretch>
            <a:fillRect/>
          </a:stretch>
        </p:blipFill>
        <p:spPr>
          <a:xfrm>
            <a:off x="777240" y="2880360"/>
            <a:ext cx="4937760" cy="3383280"/>
          </a:xfrm>
          <a:prstGeom prst="rect">
            <a:avLst/>
          </a:prstGeom>
        </p:spPr>
      </p:pic>
      <p:sp>
        <p:nvSpPr>
          <p:cNvPr id="18" name="Tarjeta temperatura"/>
          <p:cNvSpPr/>
          <p:nvPr/>
        </p:nvSpPr>
        <p:spPr>
          <a:xfrm>
            <a:off x="6126480" y="2377440"/>
            <a:ext cx="5513832" cy="4069080"/>
          </a:xfrm>
          <a:prstGeom prst="roundRect">
            <a:avLst>
              <a:gd name="adj" fmla="val 314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9" name="Text 16"/>
          <p:cNvSpPr txBox="1"/>
          <p:nvPr/>
        </p:nvSpPr>
        <p:spPr>
          <a:xfrm>
            <a:off x="6309360" y="2450592"/>
            <a:ext cx="5166360"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Temperatura: superación − sin superación</a:t>
            </a:r>
            <a:endParaRPr lang="en-US" sz="2000" dirty="0"/>
          </a:p>
        </p:txBody>
      </p:sp>
      <p:pic>
        <p:nvPicPr>
          <p:cNvPr id="20" name="pres_temperatura_simpson.png" descr="Diferencia de temperatura entre días con y sin superación, global y por temporada"/>
          <p:cNvPicPr>
            <a:picLocks noChangeAspect="1"/>
          </p:cNvPicPr>
          <p:nvPr/>
        </p:nvPicPr>
        <p:blipFill>
          <a:blip r:embed="rId4"/>
          <a:stretch>
            <a:fillRect/>
          </a:stretch>
        </p:blipFill>
        <p:spPr>
          <a:xfrm>
            <a:off x="6236208" y="2880360"/>
            <a:ext cx="5303520" cy="3383280"/>
          </a:xfrm>
          <a:prstGeom prst="rect">
            <a:avLst/>
          </a:prstGeom>
        </p:spPr>
      </p:pic>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Recuperamos 2 438 días imputando solo el clima, nunca el PM2.5</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Leo</a:t>
            </a:r>
            <a:endParaRPr lang="en-US" sz="2000" dirty="0"/>
          </a:p>
        </p:txBody>
      </p:sp>
      <p:sp>
        <p:nvSpPr>
          <p:cNvPr id="6" name="Banner faltantes"/>
          <p:cNvSpPr/>
          <p:nvPr/>
        </p:nvSpPr>
        <p:spPr>
          <a:xfrm>
            <a:off x="548640" y="1417320"/>
            <a:ext cx="11091672" cy="777240"/>
          </a:xfrm>
          <a:prstGeom prst="roundRect">
            <a:avLst>
              <a:gd name="adj" fmla="val 1647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Text 5"/>
          <p:cNvSpPr txBox="1"/>
          <p:nvPr/>
        </p:nvSpPr>
        <p:spPr>
          <a:xfrm>
            <a:off x="731520" y="1417320"/>
            <a:ext cx="10725912" cy="777240"/>
          </a:xfrm>
          <a:prstGeom prst="rect">
            <a:avLst/>
          </a:prstGeom>
          <a:noFill/>
          <a:ln/>
        </p:spPr>
        <p:txBody>
          <a:bodyPr wrap="square" lIns="508" tIns="508" rIns="508" bIns="508" rtlCol="0" anchor="ctr"/>
          <a:lstStyle/>
          <a:p>
            <a:pPr marL="0" indent="0">
              <a:buNone/>
            </a:pPr>
            <a:r>
              <a:rPr lang="en-US" sz="2000" b="1" dirty="0">
                <a:solidFill>
                  <a:schemeClr val="accent2"/>
                </a:solidFill>
                <a:latin typeface="Calibri" pitchFamily="34" charset="0"/>
                <a:ea typeface="Calibri" pitchFamily="34" charset="-122"/>
                <a:cs typeface="Calibri" pitchFamily="34" charset="-120"/>
              </a:rPr>
              <a:t>Faltaba el 12.3 % de los datos</a:t>
            </a:r>
            <a:r>
              <a:rPr lang="en-US" sz="2000" dirty="0">
                <a:solidFill>
                  <a:schemeClr val="tx1"/>
                </a:solidFill>
                <a:latin typeface="Calibri" pitchFamily="34" charset="0"/>
                <a:ea typeface="Calibri" pitchFamily="34" charset="-122"/>
                <a:cs typeface="Calibri" pitchFamily="34" charset="-120"/>
              </a:rPr>
              <a:t> (26 % del PM2.5), sobre todo por apagones largos; se invalidó el 0.7 % por inconsistencias</a:t>
            </a:r>
            <a:endParaRPr lang="en-US" sz="2000" dirty="0"/>
          </a:p>
        </p:txBody>
      </p:sp>
      <p:sp>
        <p:nvSpPr>
          <p:cNvPr id="8" name="Decisión 1"/>
          <p:cNvSpPr/>
          <p:nvPr/>
        </p:nvSpPr>
        <p:spPr>
          <a:xfrm>
            <a:off x="548640" y="2377440"/>
            <a:ext cx="3429000" cy="2926080"/>
          </a:xfrm>
          <a:prstGeom prst="roundRect">
            <a:avLst>
              <a:gd name="adj" fmla="val 437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9" name="Número 1"/>
          <p:cNvSpPr/>
          <p:nvPr/>
        </p:nvSpPr>
        <p:spPr>
          <a:xfrm>
            <a:off x="731520" y="2542032"/>
            <a:ext cx="457200" cy="457200"/>
          </a:xfrm>
          <a:prstGeom prst="ellipse">
            <a:avLst/>
          </a:prstGeom>
          <a:solidFill>
            <a:schemeClr val="accent2"/>
          </a:solidFill>
          <a:ln w="6350">
            <a:solidFill>
              <a:schemeClr val="accent2"/>
            </a:solidFill>
            <a:prstDash val="solid"/>
          </a:ln>
        </p:spPr>
      </p:sp>
      <p:sp>
        <p:nvSpPr>
          <p:cNvPr id="10" name="Text 8"/>
          <p:cNvSpPr txBox="1"/>
          <p:nvPr/>
        </p:nvSpPr>
        <p:spPr>
          <a:xfrm>
            <a:off x="731520" y="2542032"/>
            <a:ext cx="457200" cy="457200"/>
          </a:xfrm>
          <a:prstGeom prst="rect">
            <a:avLst/>
          </a:prstGeom>
          <a:noFill/>
          <a:ln/>
        </p:spPr>
        <p:txBody>
          <a:bodyPr wrap="square" lIns="0" tIns="0" rIns="0" bIns="0"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11" name="Text 9"/>
          <p:cNvSpPr txBox="1"/>
          <p:nvPr/>
        </p:nvSpPr>
        <p:spPr>
          <a:xfrm>
            <a:off x="1280160" y="2542032"/>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libri" pitchFamily="34" charset="0"/>
                <a:ea typeface="Calibri" pitchFamily="34" charset="-122"/>
                <a:cs typeface="Calibri" pitchFamily="34" charset="-120"/>
              </a:rPr>
              <a:t>Respuesta (PM2.5)</a:t>
            </a:r>
            <a:endParaRPr lang="en-US" sz="2200" dirty="0"/>
          </a:p>
        </p:txBody>
      </p:sp>
      <p:sp>
        <p:nvSpPr>
          <p:cNvPr id="12" name="Text 10"/>
          <p:cNvSpPr txBox="1"/>
          <p:nvPr/>
        </p:nvSpPr>
        <p:spPr>
          <a:xfrm>
            <a:off x="731520" y="3108960"/>
            <a:ext cx="3063240" cy="502920"/>
          </a:xfrm>
          <a:prstGeom prst="rect">
            <a:avLst/>
          </a:prstGeom>
          <a:noFill/>
          <a:ln/>
        </p:spPr>
        <p:txBody>
          <a:bodyPr wrap="square" lIns="508" tIns="508" rIns="508" bIns="508" rtlCol="0" anchor="ctr"/>
          <a:lstStyle/>
          <a:p>
            <a:pPr marL="0" indent="0">
              <a:buNone/>
            </a:pPr>
            <a:r>
              <a:rPr lang="en-US" sz="2800" b="1" dirty="0">
                <a:solidFill>
                  <a:schemeClr val="accent2"/>
                </a:solidFill>
                <a:latin typeface="Calibri" pitchFamily="34" charset="0"/>
                <a:ea typeface="Calibri" pitchFamily="34" charset="-122"/>
                <a:cs typeface="Calibri" pitchFamily="34" charset="-120"/>
              </a:rPr>
              <a:t>NO se imputa</a:t>
            </a:r>
            <a:endParaRPr lang="en-US" sz="2800" dirty="0"/>
          </a:p>
        </p:txBody>
      </p:sp>
      <p:sp>
        <p:nvSpPr>
          <p:cNvPr id="13" name="Text 11"/>
          <p:cNvSpPr txBox="1"/>
          <p:nvPr/>
        </p:nvSpPr>
        <p:spPr>
          <a:xfrm>
            <a:off x="731520" y="3657600"/>
            <a:ext cx="3063240" cy="155448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Un día cuenta con ≥ 18 h observadas. Imputarla fabricaría lo que queremos clasificar.</a:t>
            </a:r>
            <a:endParaRPr lang="en-US" sz="2000" dirty="0"/>
          </a:p>
        </p:txBody>
      </p:sp>
      <p:sp>
        <p:nvSpPr>
          <p:cNvPr id="14" name="Flecha 1"/>
          <p:cNvSpPr/>
          <p:nvPr/>
        </p:nvSpPr>
        <p:spPr>
          <a:xfrm>
            <a:off x="4014216" y="3657600"/>
            <a:ext cx="329184" cy="365760"/>
          </a:xfrm>
          <a:prstGeom prst="rightArrow">
            <a:avLst/>
          </a:prstGeom>
          <a:solidFill>
            <a:schemeClr val="accent3"/>
          </a:solidFill>
          <a:ln w="6350">
            <a:solidFill>
              <a:schemeClr val="accent3"/>
            </a:solidFill>
            <a:prstDash val="solid"/>
          </a:ln>
        </p:spPr>
      </p:sp>
      <p:sp>
        <p:nvSpPr>
          <p:cNvPr id="15" name="Decisión 2"/>
          <p:cNvSpPr/>
          <p:nvPr/>
        </p:nvSpPr>
        <p:spPr>
          <a:xfrm>
            <a:off x="4379976" y="2377440"/>
            <a:ext cx="3429000" cy="2926080"/>
          </a:xfrm>
          <a:prstGeom prst="roundRect">
            <a:avLst>
              <a:gd name="adj" fmla="val 437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6" name="Número 2"/>
          <p:cNvSpPr/>
          <p:nvPr/>
        </p:nvSpPr>
        <p:spPr>
          <a:xfrm>
            <a:off x="4562856" y="2542032"/>
            <a:ext cx="457200" cy="457200"/>
          </a:xfrm>
          <a:prstGeom prst="ellipse">
            <a:avLst/>
          </a:prstGeom>
          <a:solidFill>
            <a:schemeClr val="accent1"/>
          </a:solidFill>
          <a:ln w="6350">
            <a:solidFill>
              <a:schemeClr val="accent1"/>
            </a:solidFill>
            <a:prstDash val="solid"/>
          </a:ln>
        </p:spPr>
      </p:sp>
      <p:sp>
        <p:nvSpPr>
          <p:cNvPr id="17" name="Text 15"/>
          <p:cNvSpPr txBox="1"/>
          <p:nvPr/>
        </p:nvSpPr>
        <p:spPr>
          <a:xfrm>
            <a:off x="4562856" y="2542032"/>
            <a:ext cx="457200" cy="457200"/>
          </a:xfrm>
          <a:prstGeom prst="rect">
            <a:avLst/>
          </a:prstGeom>
          <a:noFill/>
          <a:ln/>
        </p:spPr>
        <p:txBody>
          <a:bodyPr wrap="square" lIns="0" tIns="0" rIns="0" bIns="0"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18" name="Text 16"/>
          <p:cNvSpPr txBox="1"/>
          <p:nvPr/>
        </p:nvSpPr>
        <p:spPr>
          <a:xfrm>
            <a:off x="5111496" y="2542032"/>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libri" pitchFamily="34" charset="0"/>
                <a:ea typeface="Calibri" pitchFamily="34" charset="-122"/>
                <a:cs typeface="Calibri" pitchFamily="34" charset="-120"/>
              </a:rPr>
              <a:t>Meteorología horaria</a:t>
            </a:r>
            <a:endParaRPr lang="en-US" sz="2200" dirty="0"/>
          </a:p>
        </p:txBody>
      </p:sp>
      <p:sp>
        <p:nvSpPr>
          <p:cNvPr id="19" name="Text 17"/>
          <p:cNvSpPr txBox="1"/>
          <p:nvPr/>
        </p:nvSpPr>
        <p:spPr>
          <a:xfrm>
            <a:off x="4562856" y="3108960"/>
            <a:ext cx="3063240" cy="502920"/>
          </a:xfrm>
          <a:prstGeom prst="rect">
            <a:avLst/>
          </a:prstGeom>
          <a:noFill/>
          <a:ln/>
        </p:spPr>
        <p:txBody>
          <a:bodyPr wrap="square" lIns="508" tIns="508" rIns="508" bIns="508" rtlCol="0" anchor="ctr"/>
          <a:lstStyle/>
          <a:p>
            <a:pPr marL="0" indent="0">
              <a:buNone/>
            </a:pPr>
            <a:r>
              <a:rPr lang="en-US" sz="2800" b="1" dirty="0">
                <a:solidFill>
                  <a:schemeClr val="accent1"/>
                </a:solidFill>
                <a:latin typeface="Calibri" pitchFamily="34" charset="0"/>
                <a:ea typeface="Calibri" pitchFamily="34" charset="-122"/>
                <a:cs typeface="Calibri" pitchFamily="34" charset="-120"/>
              </a:rPr>
              <a:t>imputeTS</a:t>
            </a:r>
            <a:endParaRPr lang="en-US" sz="2800" dirty="0"/>
          </a:p>
        </p:txBody>
      </p:sp>
      <p:sp>
        <p:nvSpPr>
          <p:cNvPr id="20" name="Text 18"/>
          <p:cNvSpPr txBox="1"/>
          <p:nvPr/>
        </p:nvSpPr>
        <p:spPr>
          <a:xfrm>
            <a:off x="4562856" y="3657600"/>
            <a:ext cx="3063240" cy="155448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Descomposición estacional o Kalman, según el hueco. Se elige tapando datos conocidos y midiendo el error.</a:t>
            </a:r>
            <a:endParaRPr lang="en-US" sz="2000" dirty="0"/>
          </a:p>
        </p:txBody>
      </p:sp>
      <p:sp>
        <p:nvSpPr>
          <p:cNvPr id="21" name="Flecha 2"/>
          <p:cNvSpPr/>
          <p:nvPr/>
        </p:nvSpPr>
        <p:spPr>
          <a:xfrm>
            <a:off x="7845552" y="3657600"/>
            <a:ext cx="329184" cy="365760"/>
          </a:xfrm>
          <a:prstGeom prst="rightArrow">
            <a:avLst/>
          </a:prstGeom>
          <a:solidFill>
            <a:schemeClr val="accent3"/>
          </a:solidFill>
          <a:ln w="6350">
            <a:solidFill>
              <a:schemeClr val="accent3"/>
            </a:solidFill>
            <a:prstDash val="solid"/>
          </a:ln>
        </p:spPr>
      </p:sp>
      <p:sp>
        <p:nvSpPr>
          <p:cNvPr id="22" name="Decisión 3"/>
          <p:cNvSpPr/>
          <p:nvPr/>
        </p:nvSpPr>
        <p:spPr>
          <a:xfrm>
            <a:off x="8211312" y="2377440"/>
            <a:ext cx="3429000" cy="2926080"/>
          </a:xfrm>
          <a:prstGeom prst="roundRect">
            <a:avLst>
              <a:gd name="adj" fmla="val 437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23" name="Número 3"/>
          <p:cNvSpPr/>
          <p:nvPr/>
        </p:nvSpPr>
        <p:spPr>
          <a:xfrm>
            <a:off x="8394192" y="2542032"/>
            <a:ext cx="457200" cy="457200"/>
          </a:xfrm>
          <a:prstGeom prst="ellipse">
            <a:avLst/>
          </a:prstGeom>
          <a:solidFill>
            <a:schemeClr val="accent6"/>
          </a:solidFill>
          <a:ln w="6350">
            <a:solidFill>
              <a:schemeClr val="accent6"/>
            </a:solidFill>
            <a:prstDash val="solid"/>
          </a:ln>
        </p:spPr>
      </p:sp>
      <p:sp>
        <p:nvSpPr>
          <p:cNvPr id="24" name="Text 22"/>
          <p:cNvSpPr txBox="1"/>
          <p:nvPr/>
        </p:nvSpPr>
        <p:spPr>
          <a:xfrm>
            <a:off x="8394192" y="2542032"/>
            <a:ext cx="457200" cy="457200"/>
          </a:xfrm>
          <a:prstGeom prst="rect">
            <a:avLst/>
          </a:prstGeom>
          <a:noFill/>
          <a:ln/>
        </p:spPr>
        <p:txBody>
          <a:bodyPr wrap="square" lIns="0" tIns="0" rIns="0" bIns="0"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25" name="Text 23"/>
          <p:cNvSpPr txBox="1"/>
          <p:nvPr/>
        </p:nvSpPr>
        <p:spPr>
          <a:xfrm>
            <a:off x="8942832" y="2542032"/>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libri" pitchFamily="34" charset="0"/>
                <a:ea typeface="Calibri" pitchFamily="34" charset="-122"/>
                <a:cs typeface="Calibri" pitchFamily="34" charset="-120"/>
              </a:rPr>
              <a:t>Meteorología diaria</a:t>
            </a:r>
            <a:endParaRPr lang="en-US" sz="2200" dirty="0"/>
          </a:p>
        </p:txBody>
      </p:sp>
      <p:sp>
        <p:nvSpPr>
          <p:cNvPr id="26" name="Text 24"/>
          <p:cNvSpPr txBox="1"/>
          <p:nvPr/>
        </p:nvSpPr>
        <p:spPr>
          <a:xfrm>
            <a:off x="8394192" y="3108960"/>
            <a:ext cx="3063240" cy="502920"/>
          </a:xfrm>
          <a:prstGeom prst="rect">
            <a:avLst/>
          </a:prstGeom>
          <a:noFill/>
          <a:ln/>
        </p:spPr>
        <p:txBody>
          <a:bodyPr wrap="square" lIns="508" tIns="508" rIns="508" bIns="508" rtlCol="0" anchor="ctr"/>
          <a:lstStyle/>
          <a:p>
            <a:pPr marL="0" indent="0">
              <a:buNone/>
            </a:pPr>
            <a:r>
              <a:rPr lang="en-US" sz="2800" b="1" dirty="0">
                <a:solidFill>
                  <a:schemeClr val="accent6"/>
                </a:solidFill>
                <a:latin typeface="Calibri" pitchFamily="34" charset="0"/>
                <a:ea typeface="Calibri" pitchFamily="34" charset="-122"/>
                <a:cs typeface="Calibri" pitchFamily="34" charset="-120"/>
              </a:rPr>
              <a:t>Mediana de la red</a:t>
            </a:r>
            <a:endParaRPr lang="en-US" sz="2800" dirty="0"/>
          </a:p>
        </p:txBody>
      </p:sp>
      <p:sp>
        <p:nvSpPr>
          <p:cNvPr id="27" name="Text 25"/>
          <p:cNvSpPr txBox="1"/>
          <p:nvPr/>
        </p:nvSpPr>
        <p:spPr>
          <a:xfrm>
            <a:off x="8394192" y="3657600"/>
            <a:ext cx="3063240" cy="155448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Ajustada por estación. Superó a MICE: error relativo 0.450 frente a 0.593.</a:t>
            </a:r>
            <a:endParaRPr lang="en-US" sz="2000" dirty="0"/>
          </a:p>
        </p:txBody>
      </p:sp>
      <p:sp>
        <p:nvSpPr>
          <p:cNvPr id="28" name="Resultado imputación"/>
          <p:cNvSpPr/>
          <p:nvPr/>
        </p:nvSpPr>
        <p:spPr>
          <a:xfrm>
            <a:off x="548640" y="5440680"/>
            <a:ext cx="11091672" cy="777240"/>
          </a:xfrm>
          <a:prstGeom prst="roundRect">
            <a:avLst>
              <a:gd name="adj" fmla="val 1647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29" name="Text 27"/>
          <p:cNvSpPr txBox="1"/>
          <p:nvPr/>
        </p:nvSpPr>
        <p:spPr>
          <a:xfrm>
            <a:off x="731520" y="5440680"/>
            <a:ext cx="10725912" cy="777240"/>
          </a:xfrm>
          <a:prstGeom prst="rect">
            <a:avLst/>
          </a:prstGeom>
          <a:noFill/>
          <a:ln/>
        </p:spPr>
        <p:txBody>
          <a:bodyPr wrap="square" lIns="508" tIns="508" rIns="508" bIns="508"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Resultado: </a:t>
            </a:r>
            <a:r>
              <a:rPr lang="en-US" sz="2000" dirty="0">
                <a:solidFill>
                  <a:schemeClr val="tx1"/>
                </a:solidFill>
                <a:latin typeface="Calibri" pitchFamily="34" charset="0"/>
                <a:ea typeface="Calibri" pitchFamily="34" charset="-122"/>
                <a:cs typeface="Calibri" pitchFamily="34" charset="-120"/>
              </a:rPr>
              <a:t>+2 438 días frente a la etapa anterior; García (NO2) pasa de </a:t>
            </a:r>
            <a:r>
              <a:rPr lang="en-US" sz="2000" b="1" dirty="0">
                <a:solidFill>
                  <a:schemeClr val="accent2"/>
                </a:solidFill>
                <a:latin typeface="Calibri" pitchFamily="34" charset="0"/>
                <a:ea typeface="Calibri" pitchFamily="34" charset="-122"/>
                <a:cs typeface="Calibri" pitchFamily="34" charset="-120"/>
              </a:rPr>
              <a:t>511 a 1 532</a:t>
            </a:r>
            <a:endParaRPr lang="en-US" sz="2000" dirty="0"/>
          </a:p>
        </p:txBody>
      </p:sp>
      <p:sp>
        <p:nvSpPr>
          <p:cNvPr id="30" name="Text 28"/>
          <p:cNvSpPr txBox="1"/>
          <p:nvPr/>
        </p:nvSpPr>
        <p:spPr>
          <a:xfrm>
            <a:off x="548640" y="6291072"/>
            <a:ext cx="11091672" cy="310896"/>
          </a:xfrm>
          <a:prstGeom prst="rect">
            <a:avLst/>
          </a:prstGeom>
          <a:noFill/>
          <a:ln/>
        </p:spPr>
        <p:txBody>
          <a:bodyPr wrap="square" lIns="508" tIns="508" rIns="508" bIns="508"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MIMA-v1 no se comparó: no tuvimos acceso a su dataset e imputa la respuesta.</a:t>
            </a:r>
            <a:endParaRPr lang="en-US" sz="1600" dirty="0"/>
          </a:p>
        </p:txBody>
      </p:sp>
      <p:sp>
        <p:nvSpPr>
          <p:cNvPr id="31"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Cada técnica responde una pregunta: estructura, comparación, validación e incertidumbre</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Pablo</a:t>
            </a:r>
            <a:endParaRPr lang="en-US" sz="2000" dirty="0"/>
          </a:p>
        </p:txBody>
      </p:sp>
      <p:sp>
        <p:nvSpPr>
          <p:cNvPr id="6" name="Paso 1"/>
          <p:cNvSpPr/>
          <p:nvPr/>
        </p:nvSpPr>
        <p:spPr>
          <a:xfrm>
            <a:off x="548640" y="1600200"/>
            <a:ext cx="2514600" cy="3566160"/>
          </a:xfrm>
          <a:prstGeom prst="roundRect">
            <a:avLst>
              <a:gd name="adj" fmla="val 509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Cabecera 1"/>
          <p:cNvSpPr/>
          <p:nvPr/>
        </p:nvSpPr>
        <p:spPr>
          <a:xfrm>
            <a:off x="685800" y="1737360"/>
            <a:ext cx="2240280" cy="868680"/>
          </a:xfrm>
          <a:prstGeom prst="roundRect">
            <a:avLst>
              <a:gd name="adj" fmla="val 12632"/>
            </a:avLst>
          </a:prstGeom>
          <a:solidFill>
            <a:schemeClr val="accent6"/>
          </a:solidFill>
          <a:ln w="6350">
            <a:solidFill>
              <a:schemeClr val="accent6"/>
            </a:solidFill>
            <a:prstDash val="solid"/>
          </a:ln>
        </p:spPr>
      </p:sp>
      <p:sp>
        <p:nvSpPr>
          <p:cNvPr id="8" name="Text 6"/>
          <p:cNvSpPr txBox="1"/>
          <p:nvPr/>
        </p:nvSpPr>
        <p:spPr>
          <a:xfrm>
            <a:off x="731520" y="1737360"/>
            <a:ext cx="2148840" cy="868680"/>
          </a:xfrm>
          <a:prstGeom prst="rect">
            <a:avLst/>
          </a:prstGeom>
          <a:noFill/>
          <a:ln/>
        </p:spPr>
        <p:txBody>
          <a:bodyPr wrap="square" lIns="508" tIns="508" rIns="508" bIns="508"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PCA</a:t>
            </a:r>
            <a:endParaRPr lang="en-US" sz="2200" dirty="0"/>
          </a:p>
        </p:txBody>
      </p:sp>
      <p:sp>
        <p:nvSpPr>
          <p:cNvPr id="9" name="Text 7"/>
          <p:cNvSpPr txBox="1"/>
          <p:nvPr/>
        </p:nvSpPr>
        <p:spPr>
          <a:xfrm>
            <a:off x="685800" y="2697480"/>
            <a:ext cx="2240280" cy="868680"/>
          </a:xfrm>
          <a:prstGeom prst="rect">
            <a:avLst/>
          </a:prstGeom>
          <a:noFill/>
          <a:ln/>
        </p:spPr>
        <p:txBody>
          <a:bodyPr wrap="square" lIns="508" tIns="508" rIns="508" bIns="508" rtlCol="0" anchor="ctr"/>
          <a:lstStyle/>
          <a:p>
            <a:pPr marL="0" indent="0" algn="ctr">
              <a:buNone/>
            </a:pPr>
            <a:r>
              <a:rPr lang="en-US" sz="2000" b="1" dirty="0">
                <a:solidFill>
                  <a:schemeClr val="tx2"/>
                </a:solidFill>
                <a:latin typeface="Calibri" pitchFamily="34" charset="0"/>
                <a:ea typeface="Calibri" pitchFamily="34" charset="-122"/>
                <a:cs typeface="Calibri" pitchFamily="34" charset="-120"/>
              </a:rPr>
              <a:t>Interdependencia</a:t>
            </a:r>
            <a:endParaRPr lang="en-US" sz="2000" dirty="0"/>
          </a:p>
        </p:txBody>
      </p:sp>
      <p:sp>
        <p:nvSpPr>
          <p:cNvPr id="10" name="Text 8"/>
          <p:cNvSpPr txBox="1"/>
          <p:nvPr/>
        </p:nvSpPr>
        <p:spPr>
          <a:xfrm>
            <a:off x="685800" y="3657600"/>
            <a:ext cx="2240280" cy="1371600"/>
          </a:xfrm>
          <a:prstGeom prst="rect">
            <a:avLst/>
          </a:prstGeom>
          <a:noFill/>
          <a:ln/>
        </p:spPr>
        <p:txBody>
          <a:bodyPr wrap="square" lIns="508" tIns="508" rIns="508" bIns="508" rtlCol="0" anchor="ctr"/>
          <a:lstStyle/>
          <a:p>
            <a:pPr marL="0" indent="0" algn="ctr">
              <a:buNone/>
            </a:pPr>
            <a:r>
              <a:rPr lang="en-US" sz="2000" dirty="0">
                <a:solidFill>
                  <a:schemeClr val="tx1"/>
                </a:solidFill>
                <a:latin typeface="Calibri" pitchFamily="34" charset="0"/>
                <a:ea typeface="Calibri" pitchFamily="34" charset="-122"/>
                <a:cs typeface="Calibri" pitchFamily="34" charset="-120"/>
              </a:rPr>
              <a:t>¿Cómo se estructura el clima?</a:t>
            </a:r>
            <a:endParaRPr lang="en-US" sz="2000" dirty="0"/>
          </a:p>
        </p:txBody>
      </p:sp>
      <p:sp>
        <p:nvSpPr>
          <p:cNvPr id="11" name="Flecha 1"/>
          <p:cNvSpPr/>
          <p:nvPr/>
        </p:nvSpPr>
        <p:spPr>
          <a:xfrm>
            <a:off x="3090672" y="3200400"/>
            <a:ext cx="289560" cy="365760"/>
          </a:xfrm>
          <a:prstGeom prst="rightArrow">
            <a:avLst/>
          </a:prstGeom>
          <a:solidFill>
            <a:schemeClr val="accent3"/>
          </a:solidFill>
          <a:ln w="6350">
            <a:solidFill>
              <a:schemeClr val="accent3"/>
            </a:solidFill>
            <a:prstDash val="solid"/>
          </a:ln>
        </p:spPr>
      </p:sp>
      <p:sp>
        <p:nvSpPr>
          <p:cNvPr id="12" name="Paso 2"/>
          <p:cNvSpPr/>
          <p:nvPr/>
        </p:nvSpPr>
        <p:spPr>
          <a:xfrm>
            <a:off x="3407664" y="1600200"/>
            <a:ext cx="2514600" cy="3566160"/>
          </a:xfrm>
          <a:prstGeom prst="roundRect">
            <a:avLst>
              <a:gd name="adj" fmla="val 509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3" name="Cabecera 2"/>
          <p:cNvSpPr/>
          <p:nvPr/>
        </p:nvSpPr>
        <p:spPr>
          <a:xfrm>
            <a:off x="3544824" y="1737360"/>
            <a:ext cx="2240280" cy="868680"/>
          </a:xfrm>
          <a:prstGeom prst="roundRect">
            <a:avLst>
              <a:gd name="adj" fmla="val 12632"/>
            </a:avLst>
          </a:prstGeom>
          <a:solidFill>
            <a:schemeClr val="accent2"/>
          </a:solidFill>
          <a:ln w="6350">
            <a:solidFill>
              <a:schemeClr val="accent2"/>
            </a:solidFill>
            <a:prstDash val="solid"/>
          </a:ln>
        </p:spPr>
      </p:sp>
      <p:sp>
        <p:nvSpPr>
          <p:cNvPr id="14" name="Text 12"/>
          <p:cNvSpPr txBox="1"/>
          <p:nvPr/>
        </p:nvSpPr>
        <p:spPr>
          <a:xfrm>
            <a:off x="3590544" y="1737360"/>
            <a:ext cx="2148840" cy="868680"/>
          </a:xfrm>
          <a:prstGeom prst="rect">
            <a:avLst/>
          </a:prstGeom>
          <a:noFill/>
          <a:ln/>
        </p:spPr>
        <p:txBody>
          <a:bodyPr wrap="square" lIns="508" tIns="508" rIns="508" bIns="508"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LDA y logística</a:t>
            </a:r>
            <a:endParaRPr lang="en-US" sz="2200" dirty="0"/>
          </a:p>
        </p:txBody>
      </p:sp>
      <p:sp>
        <p:nvSpPr>
          <p:cNvPr id="15" name="Text 13"/>
          <p:cNvSpPr txBox="1"/>
          <p:nvPr/>
        </p:nvSpPr>
        <p:spPr>
          <a:xfrm>
            <a:off x="3544824" y="2697480"/>
            <a:ext cx="2240280" cy="868680"/>
          </a:xfrm>
          <a:prstGeom prst="rect">
            <a:avLst/>
          </a:prstGeom>
          <a:noFill/>
          <a:ln/>
        </p:spPr>
        <p:txBody>
          <a:bodyPr wrap="square" lIns="508" tIns="508" rIns="508" bIns="508" rtlCol="0" anchor="ctr"/>
          <a:lstStyle/>
          <a:p>
            <a:pPr marL="0" indent="0" algn="ctr">
              <a:buNone/>
            </a:pPr>
            <a:r>
              <a:rPr lang="en-US" sz="2000" b="1" dirty="0">
                <a:solidFill>
                  <a:schemeClr val="tx2"/>
                </a:solidFill>
                <a:latin typeface="Calibri" pitchFamily="34" charset="0"/>
                <a:ea typeface="Calibri" pitchFamily="34" charset="-122"/>
                <a:cs typeface="Calibri" pitchFamily="34" charset="-120"/>
              </a:rPr>
              <a:t>Dependencia</a:t>
            </a:r>
            <a:endParaRPr lang="en-US" sz="2000" dirty="0"/>
          </a:p>
        </p:txBody>
      </p:sp>
      <p:sp>
        <p:nvSpPr>
          <p:cNvPr id="16" name="Text 14"/>
          <p:cNvSpPr txBox="1"/>
          <p:nvPr/>
        </p:nvSpPr>
        <p:spPr>
          <a:xfrm>
            <a:off x="3544824" y="3657600"/>
            <a:ext cx="2240280" cy="1371600"/>
          </a:xfrm>
          <a:prstGeom prst="rect">
            <a:avLst/>
          </a:prstGeom>
          <a:noFill/>
          <a:ln/>
        </p:spPr>
        <p:txBody>
          <a:bodyPr wrap="square" lIns="508" tIns="508" rIns="508" bIns="508" rtlCol="0" anchor="ctr"/>
          <a:lstStyle/>
          <a:p>
            <a:pPr marL="0" indent="0" algn="ctr">
              <a:buNone/>
            </a:pPr>
            <a:r>
              <a:rPr lang="en-US" sz="2000" dirty="0">
                <a:solidFill>
                  <a:schemeClr val="tx1"/>
                </a:solidFill>
                <a:latin typeface="Calibri" pitchFamily="34" charset="0"/>
                <a:ea typeface="Calibri" pitchFamily="34" charset="-122"/>
                <a:cs typeface="Calibri" pitchFamily="34" charset="-120"/>
              </a:rPr>
              <a:t>¿M1 clasifica mejor que M0?</a:t>
            </a:r>
            <a:endParaRPr lang="en-US" sz="2000" dirty="0"/>
          </a:p>
        </p:txBody>
      </p:sp>
      <p:sp>
        <p:nvSpPr>
          <p:cNvPr id="17" name="Flecha 2"/>
          <p:cNvSpPr/>
          <p:nvPr/>
        </p:nvSpPr>
        <p:spPr>
          <a:xfrm>
            <a:off x="5949696" y="3200400"/>
            <a:ext cx="289560" cy="365760"/>
          </a:xfrm>
          <a:prstGeom prst="rightArrow">
            <a:avLst/>
          </a:prstGeom>
          <a:solidFill>
            <a:schemeClr val="accent3"/>
          </a:solidFill>
          <a:ln w="6350">
            <a:solidFill>
              <a:schemeClr val="accent3"/>
            </a:solidFill>
            <a:prstDash val="solid"/>
          </a:ln>
        </p:spPr>
      </p:sp>
      <p:sp>
        <p:nvSpPr>
          <p:cNvPr id="18" name="Paso 3"/>
          <p:cNvSpPr/>
          <p:nvPr/>
        </p:nvSpPr>
        <p:spPr>
          <a:xfrm>
            <a:off x="6266688" y="1600200"/>
            <a:ext cx="2514600" cy="3566160"/>
          </a:xfrm>
          <a:prstGeom prst="roundRect">
            <a:avLst>
              <a:gd name="adj" fmla="val 509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9" name="Cabecera 3"/>
          <p:cNvSpPr/>
          <p:nvPr/>
        </p:nvSpPr>
        <p:spPr>
          <a:xfrm>
            <a:off x="6403848" y="1737360"/>
            <a:ext cx="2240280" cy="868680"/>
          </a:xfrm>
          <a:prstGeom prst="roundRect">
            <a:avLst>
              <a:gd name="adj" fmla="val 12632"/>
            </a:avLst>
          </a:prstGeom>
          <a:solidFill>
            <a:schemeClr val="accent1"/>
          </a:solidFill>
          <a:ln w="6350">
            <a:solidFill>
              <a:schemeClr val="accent1"/>
            </a:solidFill>
            <a:prstDash val="solid"/>
          </a:ln>
        </p:spPr>
      </p:sp>
      <p:sp>
        <p:nvSpPr>
          <p:cNvPr id="20" name="Text 18"/>
          <p:cNvSpPr txBox="1"/>
          <p:nvPr/>
        </p:nvSpPr>
        <p:spPr>
          <a:xfrm>
            <a:off x="6449568" y="1737360"/>
            <a:ext cx="2148840" cy="868680"/>
          </a:xfrm>
          <a:prstGeom prst="rect">
            <a:avLst/>
          </a:prstGeom>
          <a:noFill/>
          <a:ln/>
        </p:spPr>
        <p:txBody>
          <a:bodyPr wrap="square" lIns="508" tIns="508" rIns="508" bIns="508"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Validación temporal</a:t>
            </a:r>
            <a:endParaRPr lang="en-US" sz="2200" dirty="0"/>
          </a:p>
        </p:txBody>
      </p:sp>
      <p:sp>
        <p:nvSpPr>
          <p:cNvPr id="21" name="Text 19"/>
          <p:cNvSpPr txBox="1"/>
          <p:nvPr/>
        </p:nvSpPr>
        <p:spPr>
          <a:xfrm>
            <a:off x="6403848" y="2697480"/>
            <a:ext cx="2240280" cy="868680"/>
          </a:xfrm>
          <a:prstGeom prst="rect">
            <a:avLst/>
          </a:prstGeom>
          <a:noFill/>
          <a:ln/>
        </p:spPr>
        <p:txBody>
          <a:bodyPr wrap="square" lIns="508" tIns="508" rIns="508" bIns="508" rtlCol="0" anchor="ctr"/>
          <a:lstStyle/>
          <a:p>
            <a:pPr marL="0" indent="0" algn="ctr">
              <a:buNone/>
            </a:pPr>
            <a:r>
              <a:rPr lang="en-US" sz="2000" b="1" dirty="0">
                <a:solidFill>
                  <a:schemeClr val="tx2"/>
                </a:solidFill>
                <a:latin typeface="Calibri" pitchFamily="34" charset="0"/>
                <a:ea typeface="Calibri" pitchFamily="34" charset="-122"/>
                <a:cs typeface="Calibri" pitchFamily="34" charset="-120"/>
              </a:rPr>
              <a:t>Entrena 2021–2023, prueba 2024–2025</a:t>
            </a:r>
            <a:endParaRPr lang="en-US" sz="2000" dirty="0"/>
          </a:p>
        </p:txBody>
      </p:sp>
      <p:sp>
        <p:nvSpPr>
          <p:cNvPr id="22" name="Text 20"/>
          <p:cNvSpPr txBox="1"/>
          <p:nvPr/>
        </p:nvSpPr>
        <p:spPr>
          <a:xfrm>
            <a:off x="6403848" y="3657600"/>
            <a:ext cx="2240280" cy="1371600"/>
          </a:xfrm>
          <a:prstGeom prst="rect">
            <a:avLst/>
          </a:prstGeom>
          <a:noFill/>
          <a:ln/>
        </p:spPr>
        <p:txBody>
          <a:bodyPr wrap="square" lIns="508" tIns="508" rIns="508" bIns="508" rtlCol="0" anchor="ctr"/>
          <a:lstStyle/>
          <a:p>
            <a:pPr marL="0" indent="0" algn="ctr">
              <a:buNone/>
            </a:pPr>
            <a:r>
              <a:rPr lang="en-US" sz="2000" dirty="0">
                <a:solidFill>
                  <a:schemeClr val="tx1"/>
                </a:solidFill>
                <a:latin typeface="Calibri" pitchFamily="34" charset="0"/>
                <a:ea typeface="Calibri" pitchFamily="34" charset="-122"/>
                <a:cs typeface="Calibri" pitchFamily="34" charset="-120"/>
              </a:rPr>
              <a:t>¿Funciona en años posteriores?</a:t>
            </a:r>
            <a:endParaRPr lang="en-US" sz="2000" dirty="0"/>
          </a:p>
        </p:txBody>
      </p:sp>
      <p:sp>
        <p:nvSpPr>
          <p:cNvPr id="23" name="Flecha 3"/>
          <p:cNvSpPr/>
          <p:nvPr/>
        </p:nvSpPr>
        <p:spPr>
          <a:xfrm>
            <a:off x="8808720" y="3200400"/>
            <a:ext cx="289560" cy="365760"/>
          </a:xfrm>
          <a:prstGeom prst="rightArrow">
            <a:avLst/>
          </a:prstGeom>
          <a:solidFill>
            <a:schemeClr val="accent3"/>
          </a:solidFill>
          <a:ln w="6350">
            <a:solidFill>
              <a:schemeClr val="accent3"/>
            </a:solidFill>
            <a:prstDash val="solid"/>
          </a:ln>
        </p:spPr>
      </p:sp>
      <p:sp>
        <p:nvSpPr>
          <p:cNvPr id="24" name="Paso 4"/>
          <p:cNvSpPr/>
          <p:nvPr/>
        </p:nvSpPr>
        <p:spPr>
          <a:xfrm>
            <a:off x="9125712" y="1600200"/>
            <a:ext cx="2514600" cy="3566160"/>
          </a:xfrm>
          <a:prstGeom prst="roundRect">
            <a:avLst>
              <a:gd name="adj" fmla="val 5091"/>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25" name="Cabecera 4"/>
          <p:cNvSpPr/>
          <p:nvPr/>
        </p:nvSpPr>
        <p:spPr>
          <a:xfrm>
            <a:off x="9262872" y="1737360"/>
            <a:ext cx="2240280" cy="868680"/>
          </a:xfrm>
          <a:prstGeom prst="roundRect">
            <a:avLst>
              <a:gd name="adj" fmla="val 12632"/>
            </a:avLst>
          </a:prstGeom>
          <a:solidFill>
            <a:schemeClr val="tx2"/>
          </a:solidFill>
          <a:ln w="6350">
            <a:solidFill>
              <a:schemeClr val="tx2"/>
            </a:solidFill>
            <a:prstDash val="solid"/>
          </a:ln>
        </p:spPr>
      </p:sp>
      <p:sp>
        <p:nvSpPr>
          <p:cNvPr id="26" name="Text 24"/>
          <p:cNvSpPr txBox="1"/>
          <p:nvPr/>
        </p:nvSpPr>
        <p:spPr>
          <a:xfrm>
            <a:off x="9308592" y="1737360"/>
            <a:ext cx="2148840" cy="868680"/>
          </a:xfrm>
          <a:prstGeom prst="rect">
            <a:avLst/>
          </a:prstGeom>
          <a:noFill/>
          <a:ln/>
        </p:spPr>
        <p:txBody>
          <a:bodyPr wrap="square" lIns="508" tIns="508" rIns="508" bIns="508"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Bootstrap por bloques</a:t>
            </a:r>
            <a:endParaRPr lang="en-US" sz="2200" dirty="0"/>
          </a:p>
        </p:txBody>
      </p:sp>
      <p:sp>
        <p:nvSpPr>
          <p:cNvPr id="27" name="Text 25"/>
          <p:cNvSpPr txBox="1"/>
          <p:nvPr/>
        </p:nvSpPr>
        <p:spPr>
          <a:xfrm>
            <a:off x="9262872" y="2697480"/>
            <a:ext cx="2240280" cy="868680"/>
          </a:xfrm>
          <a:prstGeom prst="rect">
            <a:avLst/>
          </a:prstGeom>
          <a:noFill/>
          <a:ln/>
        </p:spPr>
        <p:txBody>
          <a:bodyPr wrap="square" lIns="508" tIns="508" rIns="508" bIns="508" rtlCol="0" anchor="ctr"/>
          <a:lstStyle/>
          <a:p>
            <a:pPr marL="0" indent="0" algn="ctr">
              <a:buNone/>
            </a:pPr>
            <a:r>
              <a:rPr lang="en-US" sz="2000" b="1" dirty="0">
                <a:solidFill>
                  <a:schemeClr val="tx2"/>
                </a:solidFill>
                <a:latin typeface="Calibri" pitchFamily="34" charset="0"/>
                <a:ea typeface="Calibri" pitchFamily="34" charset="-122"/>
                <a:cs typeface="Calibri" pitchFamily="34" charset="-120"/>
              </a:rPr>
              <a:t>Bloques de 14 días</a:t>
            </a:r>
            <a:endParaRPr lang="en-US" sz="2000" dirty="0"/>
          </a:p>
        </p:txBody>
      </p:sp>
      <p:sp>
        <p:nvSpPr>
          <p:cNvPr id="28" name="Text 26"/>
          <p:cNvSpPr txBox="1"/>
          <p:nvPr/>
        </p:nvSpPr>
        <p:spPr>
          <a:xfrm>
            <a:off x="9262872" y="3657600"/>
            <a:ext cx="2240280" cy="1371600"/>
          </a:xfrm>
          <a:prstGeom prst="rect">
            <a:avLst/>
          </a:prstGeom>
          <a:noFill/>
          <a:ln/>
        </p:spPr>
        <p:txBody>
          <a:bodyPr wrap="square" lIns="508" tIns="508" rIns="508" bIns="508" rtlCol="0" anchor="ctr"/>
          <a:lstStyle/>
          <a:p>
            <a:pPr marL="0" indent="0" algn="ctr">
              <a:buNone/>
            </a:pPr>
            <a:r>
              <a:rPr lang="en-US" sz="2000" dirty="0">
                <a:solidFill>
                  <a:schemeClr val="tx1"/>
                </a:solidFill>
                <a:latin typeface="Calibri" pitchFamily="34" charset="0"/>
                <a:ea typeface="Calibri" pitchFamily="34" charset="-122"/>
                <a:cs typeface="Calibri" pitchFamily="34" charset="-120"/>
              </a:rPr>
              <a:t>¿Cuánta incertidumbre tiene la mejora?</a:t>
            </a:r>
            <a:endParaRPr lang="en-US" sz="2000" dirty="0"/>
          </a:p>
        </p:txBody>
      </p:sp>
      <p:sp>
        <p:nvSpPr>
          <p:cNvPr id="29" name="Indicadoras"/>
          <p:cNvSpPr/>
          <p:nvPr/>
        </p:nvSpPr>
        <p:spPr>
          <a:xfrm>
            <a:off x="548640" y="5349240"/>
            <a:ext cx="11091672" cy="914400"/>
          </a:xfrm>
          <a:prstGeom prst="roundRect">
            <a:avLst>
              <a:gd name="adj" fmla="val 140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30" name="Text 28"/>
          <p:cNvSpPr txBox="1"/>
          <p:nvPr/>
        </p:nvSpPr>
        <p:spPr>
          <a:xfrm>
            <a:off x="731520" y="5349240"/>
            <a:ext cx="10725912" cy="914400"/>
          </a:xfrm>
          <a:prstGeom prst="rect">
            <a:avLst/>
          </a:prstGeom>
          <a:noFill/>
          <a:ln/>
        </p:spPr>
        <p:txBody>
          <a:bodyPr wrap="square" lIns="508" tIns="508" rIns="508" bIns="508"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Estación y temporada entran como variables indicadoras</a:t>
            </a:r>
            <a:r>
              <a:rPr lang="en-US" sz="2000" dirty="0">
                <a:solidFill>
                  <a:schemeClr val="tx1"/>
                </a:solidFill>
                <a:latin typeface="Calibri" pitchFamily="34" charset="0"/>
                <a:ea typeface="Calibri" pitchFamily="34" charset="-122"/>
                <a:cs typeface="Calibri" pitchFamily="34" charset="-120"/>
              </a:rPr>
              <a:t>: 22 predictores en total</a:t>
            </a:r>
            <a:endParaRPr lang="en-US" sz="2000" dirty="0"/>
          </a:p>
        </p:txBody>
      </p:sp>
      <p:sp>
        <p:nvSpPr>
          <p:cNvPr id="31"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Tres ejes resumen el 66.5 % del clima, pero describir no es clasificar</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Pablo</a:t>
            </a:r>
            <a:endParaRPr lang="en-US" sz="2000" dirty="0"/>
          </a:p>
        </p:txBody>
      </p:sp>
      <p:sp>
        <p:nvSpPr>
          <p:cNvPr id="6" name="Tarjeta PCA"/>
          <p:cNvSpPr/>
          <p:nvPr/>
        </p:nvSpPr>
        <p:spPr>
          <a:xfrm>
            <a:off x="548640" y="1463040"/>
            <a:ext cx="7040880" cy="4754880"/>
          </a:xfrm>
          <a:prstGeom prst="roundRect">
            <a:avLst>
              <a:gd name="adj" fmla="val 2692"/>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pic>
        <p:nvPicPr>
          <p:cNvPr id="7" name="pres_pca_cargas.png" descr="Cargas de los tres primeros componentes principales sobre las ocho variables meteorológicas"/>
          <p:cNvPicPr>
            <a:picLocks noChangeAspect="1"/>
          </p:cNvPicPr>
          <p:nvPr/>
        </p:nvPicPr>
        <p:blipFill>
          <a:blip r:embed="rId3"/>
          <a:stretch>
            <a:fillRect/>
          </a:stretch>
        </p:blipFill>
        <p:spPr>
          <a:xfrm>
            <a:off x="685800" y="1645920"/>
            <a:ext cx="6766560" cy="4297680"/>
          </a:xfrm>
          <a:prstGeom prst="rect">
            <a:avLst/>
          </a:prstGeom>
        </p:spPr>
      </p:pic>
      <p:sp>
        <p:nvSpPr>
          <p:cNvPr id="8" name="Tarjeta varianza"/>
          <p:cNvSpPr/>
          <p:nvPr/>
        </p:nvSpPr>
        <p:spPr>
          <a:xfrm>
            <a:off x="7772400" y="1463040"/>
            <a:ext cx="3867912" cy="2148840"/>
          </a:xfrm>
          <a:prstGeom prst="roundRect">
            <a:avLst>
              <a:gd name="adj" fmla="val 5957"/>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9" name="Text 6"/>
          <p:cNvSpPr txBox="1"/>
          <p:nvPr/>
        </p:nvSpPr>
        <p:spPr>
          <a:xfrm>
            <a:off x="7955280" y="1554480"/>
            <a:ext cx="3502152" cy="868680"/>
          </a:xfrm>
          <a:prstGeom prst="rect">
            <a:avLst/>
          </a:prstGeom>
          <a:noFill/>
          <a:ln/>
        </p:spPr>
        <p:txBody>
          <a:bodyPr wrap="square" lIns="508" tIns="508" rIns="508" bIns="508" rtlCol="0" anchor="ctr"/>
          <a:lstStyle/>
          <a:p>
            <a:pPr marL="0" indent="0">
              <a:buNone/>
            </a:pPr>
            <a:r>
              <a:rPr lang="en-US" sz="5400" b="1" dirty="0">
                <a:solidFill>
                  <a:schemeClr val="accent2"/>
                </a:solidFill>
                <a:latin typeface="Calibri" pitchFamily="34" charset="0"/>
                <a:ea typeface="Calibri" pitchFamily="34" charset="-122"/>
                <a:cs typeface="Calibri" pitchFamily="34" charset="-120"/>
              </a:rPr>
              <a:t>66.5 %</a:t>
            </a:r>
            <a:endParaRPr lang="en-US" sz="5400" dirty="0"/>
          </a:p>
        </p:txBody>
      </p:sp>
      <p:sp>
        <p:nvSpPr>
          <p:cNvPr id="10" name="Text 7"/>
          <p:cNvSpPr txBox="1"/>
          <p:nvPr/>
        </p:nvSpPr>
        <p:spPr>
          <a:xfrm>
            <a:off x="7955280" y="2468880"/>
            <a:ext cx="3502152" cy="100584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de la varianza en 3 ejes (36, 17 y 13 %)</a:t>
            </a:r>
            <a:endParaRPr lang="en-US" sz="2000" dirty="0"/>
          </a:p>
        </p:txBody>
      </p:sp>
      <p:sp>
        <p:nvSpPr>
          <p:cNvPr id="11" name="Tarjeta uso"/>
          <p:cNvSpPr/>
          <p:nvPr/>
        </p:nvSpPr>
        <p:spPr>
          <a:xfrm>
            <a:off x="7772400" y="3749040"/>
            <a:ext cx="3867912" cy="2468880"/>
          </a:xfrm>
          <a:prstGeom prst="roundRect">
            <a:avLst>
              <a:gd name="adj" fmla="val 518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2" name="Text 9"/>
          <p:cNvSpPr txBox="1"/>
          <p:nvPr/>
        </p:nvSpPr>
        <p:spPr>
          <a:xfrm>
            <a:off x="7955280" y="3840480"/>
            <a:ext cx="3502152" cy="411480"/>
          </a:xfrm>
          <a:prstGeom prst="rect">
            <a:avLst/>
          </a:prstGeom>
          <a:noFill/>
          <a:ln/>
        </p:spPr>
        <p:txBody>
          <a:bodyPr wrap="square" lIns="508" tIns="508" rIns="508" bIns="508" rtlCol="0" anchor="t"/>
          <a:lstStyle/>
          <a:p>
            <a:pPr marL="0" indent="0">
              <a:buNone/>
            </a:pPr>
            <a:r>
              <a:rPr lang="en-US" sz="2200" b="1" dirty="0">
                <a:solidFill>
                  <a:schemeClr val="tx2"/>
                </a:solidFill>
                <a:latin typeface="Calibri" pitchFamily="34" charset="0"/>
                <a:ea typeface="Calibri" pitchFamily="34" charset="-122"/>
                <a:cs typeface="Calibri" pitchFamily="34" charset="-120"/>
              </a:rPr>
              <a:t>Describe, no predice</a:t>
            </a:r>
            <a:endParaRPr lang="en-US" sz="2200" dirty="0"/>
          </a:p>
        </p:txBody>
      </p:sp>
      <p:sp>
        <p:nvSpPr>
          <p:cNvPr id="13" name="Text 10"/>
          <p:cNvSpPr txBox="1"/>
          <p:nvPr/>
        </p:nvSpPr>
        <p:spPr>
          <a:xfrm>
            <a:off x="7955280" y="4297680"/>
            <a:ext cx="3502152" cy="182880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PC1 mezcla temperatura y viento, que se asocian con la superación en sentidos opuestos</a:t>
            </a:r>
            <a:endParaRPr lang="en-US" sz="20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La meteorología sube el AUC de 0.71 a 0.79 y detecta 74 % de las superaciones</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Leo</a:t>
            </a:r>
            <a:endParaRPr lang="en-US" sz="2000" dirty="0"/>
          </a:p>
        </p:txBody>
      </p:sp>
      <p:sp>
        <p:nvSpPr>
          <p:cNvPr id="6" name="Tarjeta ROC"/>
          <p:cNvSpPr/>
          <p:nvPr/>
        </p:nvSpPr>
        <p:spPr>
          <a:xfrm>
            <a:off x="548640" y="1463040"/>
            <a:ext cx="4343400" cy="4846320"/>
          </a:xfrm>
          <a:prstGeom prst="roundRect">
            <a:avLst>
              <a:gd name="adj" fmla="val 2947"/>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pic>
        <p:nvPicPr>
          <p:cNvPr id="7" name="pres_roc.png" descr="Curvas ROC de M0 y M1 en la prueba 2024-2025"/>
          <p:cNvPicPr>
            <a:picLocks noChangeAspect="1"/>
          </p:cNvPicPr>
          <p:nvPr/>
        </p:nvPicPr>
        <p:blipFill>
          <a:blip r:embed="rId3"/>
          <a:stretch>
            <a:fillRect/>
          </a:stretch>
        </p:blipFill>
        <p:spPr>
          <a:xfrm>
            <a:off x="708660" y="1572768"/>
            <a:ext cx="4023360" cy="3657600"/>
          </a:xfrm>
          <a:prstGeom prst="rect">
            <a:avLst/>
          </a:prstGeom>
        </p:spPr>
      </p:pic>
      <p:sp>
        <p:nvSpPr>
          <p:cNvPr id="8" name="Text 5"/>
          <p:cNvSpPr txBox="1"/>
          <p:nvPr/>
        </p:nvSpPr>
        <p:spPr>
          <a:xfrm>
            <a:off x="731520" y="5257800"/>
            <a:ext cx="3977640" cy="1005840"/>
          </a:xfrm>
          <a:prstGeom prst="rect">
            <a:avLst/>
          </a:prstGeom>
          <a:noFill/>
          <a:ln/>
        </p:spPr>
        <p:txBody>
          <a:bodyPr wrap="square" lIns="508" tIns="508" rIns="508" bIns="508" rtlCol="0" anchor="t"/>
          <a:lstStyle/>
          <a:p>
            <a:pPr marL="0" indent="0">
              <a:buNone/>
            </a:pPr>
            <a:r>
              <a:rPr lang="en-US" sz="1800" dirty="0">
                <a:solidFill>
                  <a:schemeClr val="tx1"/>
                </a:solidFill>
                <a:latin typeface="Calibri" pitchFamily="34" charset="0"/>
                <a:ea typeface="Calibri" pitchFamily="34" charset="-122"/>
                <a:cs typeface="Calibri" pitchFamily="34" charset="-120"/>
              </a:rPr>
              <a:t>AUC no es % de aciertos: es la probabilidad de ordenar bien un día con superación frente a uno sin ella</a:t>
            </a:r>
            <a:endParaRPr lang="en-US" sz="1800" dirty="0"/>
          </a:p>
        </p:txBody>
      </p:sp>
      <p:sp>
        <p:nvSpPr>
          <p:cNvPr id="9" name="AUC"/>
          <p:cNvSpPr/>
          <p:nvPr/>
        </p:nvSpPr>
        <p:spPr>
          <a:xfrm>
            <a:off x="5074920" y="1463040"/>
            <a:ext cx="6565392" cy="1645920"/>
          </a:xfrm>
          <a:prstGeom prst="roundRect">
            <a:avLst>
              <a:gd name="adj" fmla="val 7778"/>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0" name="Text 7"/>
          <p:cNvSpPr txBox="1"/>
          <p:nvPr/>
        </p:nvSpPr>
        <p:spPr>
          <a:xfrm>
            <a:off x="5257800" y="1517904"/>
            <a:ext cx="6199632"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AUC en la prueba (M0 → M1)</a:t>
            </a:r>
            <a:endParaRPr lang="en-US" sz="2000" dirty="0"/>
          </a:p>
        </p:txBody>
      </p:sp>
      <p:sp>
        <p:nvSpPr>
          <p:cNvPr id="11" name="Text 8"/>
          <p:cNvSpPr txBox="1"/>
          <p:nvPr/>
        </p:nvSpPr>
        <p:spPr>
          <a:xfrm>
            <a:off x="5257800" y="1874520"/>
            <a:ext cx="3017520" cy="731520"/>
          </a:xfrm>
          <a:prstGeom prst="rect">
            <a:avLst/>
          </a:prstGeom>
          <a:noFill/>
          <a:ln/>
        </p:spPr>
        <p:txBody>
          <a:bodyPr wrap="none" lIns="0" tIns="0" rIns="0" bIns="0" rtlCol="0" anchor="ctr"/>
          <a:lstStyle/>
          <a:p>
            <a:pPr marL="0" indent="0">
              <a:buNone/>
            </a:pPr>
            <a:r>
              <a:rPr lang="en-US" sz="4400" b="1" dirty="0">
                <a:solidFill>
                  <a:schemeClr val="accent1"/>
                </a:solidFill>
                <a:latin typeface="Calibri" pitchFamily="34" charset="0"/>
                <a:ea typeface="Calibri" pitchFamily="34" charset="-122"/>
                <a:cs typeface="Calibri" pitchFamily="34" charset="-120"/>
              </a:rPr>
              <a:t>0.713</a:t>
            </a:r>
            <a:r>
              <a:rPr lang="en-US" sz="2400" b="1" dirty="0">
                <a:solidFill>
                  <a:schemeClr val="accent5"/>
                </a:solidFill>
                <a:latin typeface="Calibri" pitchFamily="34" charset="0"/>
                <a:ea typeface="Calibri" pitchFamily="34" charset="-122"/>
                <a:cs typeface="Calibri" pitchFamily="34" charset="-120"/>
              </a:rPr>
              <a:t> → </a:t>
            </a:r>
            <a:r>
              <a:rPr lang="en-US" sz="4400" b="1" dirty="0">
                <a:solidFill>
                  <a:schemeClr val="accent2"/>
                </a:solidFill>
                <a:latin typeface="Calibri" pitchFamily="34" charset="0"/>
                <a:ea typeface="Calibri" pitchFamily="34" charset="-122"/>
                <a:cs typeface="Calibri" pitchFamily="34" charset="-120"/>
              </a:rPr>
              <a:t>0.792</a:t>
            </a:r>
            <a:endParaRPr lang="en-US" sz="4400" dirty="0"/>
          </a:p>
        </p:txBody>
      </p:sp>
      <p:sp>
        <p:nvSpPr>
          <p:cNvPr id="12" name="Text 9"/>
          <p:cNvSpPr txBox="1"/>
          <p:nvPr/>
        </p:nvSpPr>
        <p:spPr>
          <a:xfrm>
            <a:off x="5257800" y="2606040"/>
            <a:ext cx="2743200" cy="36576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LDA</a:t>
            </a:r>
            <a:endParaRPr lang="en-US" sz="2000" dirty="0"/>
          </a:p>
        </p:txBody>
      </p:sp>
      <p:sp>
        <p:nvSpPr>
          <p:cNvPr id="13" name="Text 10"/>
          <p:cNvSpPr txBox="1"/>
          <p:nvPr/>
        </p:nvSpPr>
        <p:spPr>
          <a:xfrm>
            <a:off x="8503920" y="1874520"/>
            <a:ext cx="3017520" cy="731520"/>
          </a:xfrm>
          <a:prstGeom prst="rect">
            <a:avLst/>
          </a:prstGeom>
          <a:noFill/>
          <a:ln/>
        </p:spPr>
        <p:txBody>
          <a:bodyPr wrap="none" lIns="0" tIns="0" rIns="0" bIns="0" rtlCol="0" anchor="ctr"/>
          <a:lstStyle/>
          <a:p>
            <a:pPr marL="0" indent="0">
              <a:buNone/>
            </a:pPr>
            <a:r>
              <a:rPr lang="en-US" sz="4400" b="1" dirty="0">
                <a:solidFill>
                  <a:schemeClr val="accent1"/>
                </a:solidFill>
                <a:latin typeface="Calibri" pitchFamily="34" charset="0"/>
                <a:ea typeface="Calibri" pitchFamily="34" charset="-122"/>
                <a:cs typeface="Calibri" pitchFamily="34" charset="-120"/>
              </a:rPr>
              <a:t>0.721</a:t>
            </a:r>
            <a:r>
              <a:rPr lang="en-US" sz="2400" b="1" dirty="0">
                <a:solidFill>
                  <a:schemeClr val="accent5"/>
                </a:solidFill>
                <a:latin typeface="Calibri" pitchFamily="34" charset="0"/>
                <a:ea typeface="Calibri" pitchFamily="34" charset="-122"/>
                <a:cs typeface="Calibri" pitchFamily="34" charset="-120"/>
              </a:rPr>
              <a:t> → </a:t>
            </a:r>
            <a:r>
              <a:rPr lang="en-US" sz="4400" b="1" dirty="0">
                <a:solidFill>
                  <a:schemeClr val="accent2"/>
                </a:solidFill>
                <a:latin typeface="Calibri" pitchFamily="34" charset="0"/>
                <a:ea typeface="Calibri" pitchFamily="34" charset="-122"/>
                <a:cs typeface="Calibri" pitchFamily="34" charset="-120"/>
              </a:rPr>
              <a:t>0.792</a:t>
            </a:r>
            <a:endParaRPr lang="en-US" sz="4400" dirty="0"/>
          </a:p>
        </p:txBody>
      </p:sp>
      <p:sp>
        <p:nvSpPr>
          <p:cNvPr id="14" name="Text 11"/>
          <p:cNvSpPr txBox="1"/>
          <p:nvPr/>
        </p:nvSpPr>
        <p:spPr>
          <a:xfrm>
            <a:off x="8503920" y="2606040"/>
            <a:ext cx="2743200" cy="36576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Logística</a:t>
            </a:r>
            <a:endParaRPr lang="en-US" sz="2000" dirty="0"/>
          </a:p>
        </p:txBody>
      </p:sp>
      <p:sp>
        <p:nvSpPr>
          <p:cNvPr id="15" name="Mejora"/>
          <p:cNvSpPr/>
          <p:nvPr/>
        </p:nvSpPr>
        <p:spPr>
          <a:xfrm>
            <a:off x="5074920" y="3246120"/>
            <a:ext cx="6565392" cy="1645920"/>
          </a:xfrm>
          <a:prstGeom prst="roundRect">
            <a:avLst>
              <a:gd name="adj" fmla="val 7778"/>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6" name="Text 13"/>
          <p:cNvSpPr txBox="1"/>
          <p:nvPr/>
        </p:nvSpPr>
        <p:spPr>
          <a:xfrm>
            <a:off x="5257800" y="3300984"/>
            <a:ext cx="6199632"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Mejora del AUC [IC 95 %]</a:t>
            </a:r>
            <a:endParaRPr lang="en-US" sz="2000" dirty="0"/>
          </a:p>
        </p:txBody>
      </p:sp>
      <p:sp>
        <p:nvSpPr>
          <p:cNvPr id="17" name="Text 14"/>
          <p:cNvSpPr txBox="1"/>
          <p:nvPr/>
        </p:nvSpPr>
        <p:spPr>
          <a:xfrm>
            <a:off x="5257800" y="3657600"/>
            <a:ext cx="1737360" cy="731520"/>
          </a:xfrm>
          <a:prstGeom prst="rect">
            <a:avLst/>
          </a:prstGeom>
          <a:noFill/>
          <a:ln/>
        </p:spPr>
        <p:txBody>
          <a:bodyPr wrap="square" lIns="0" tIns="0" rIns="0" bIns="0" rtlCol="0" anchor="ctr"/>
          <a:lstStyle/>
          <a:p>
            <a:pPr marL="0" indent="0">
              <a:buNone/>
            </a:pPr>
            <a:r>
              <a:rPr lang="en-US" sz="4400" b="1" dirty="0">
                <a:solidFill>
                  <a:schemeClr val="accent2"/>
                </a:solidFill>
                <a:latin typeface="Calibri" pitchFamily="34" charset="0"/>
                <a:ea typeface="Calibri" pitchFamily="34" charset="-122"/>
                <a:cs typeface="Calibri" pitchFamily="34" charset="-120"/>
              </a:rPr>
              <a:t>+0.079</a:t>
            </a:r>
            <a:endParaRPr lang="en-US" sz="4400" dirty="0"/>
          </a:p>
        </p:txBody>
      </p:sp>
      <p:sp>
        <p:nvSpPr>
          <p:cNvPr id="18" name="Text 15"/>
          <p:cNvSpPr txBox="1"/>
          <p:nvPr/>
        </p:nvSpPr>
        <p:spPr>
          <a:xfrm>
            <a:off x="5257800" y="4389120"/>
            <a:ext cx="2926080" cy="365760"/>
          </a:xfrm>
          <a:prstGeom prst="rect">
            <a:avLst/>
          </a:prstGeom>
          <a:noFill/>
          <a:ln/>
        </p:spPr>
        <p:txBody>
          <a:bodyPr wrap="square" lIns="508" tIns="508" rIns="508" bIns="508" rtlCol="0" anchor="t"/>
          <a:lstStyle/>
          <a:p>
            <a:pPr marL="0" indent="0">
              <a:buNone/>
            </a:pPr>
            <a:r>
              <a:rPr lang="en-US" sz="2000" b="1" dirty="0">
                <a:solidFill>
                  <a:schemeClr val="tx1"/>
                </a:solidFill>
                <a:latin typeface="Calibri" pitchFamily="34" charset="0"/>
                <a:ea typeface="Calibri" pitchFamily="34" charset="-122"/>
                <a:cs typeface="Calibri" pitchFamily="34" charset="-120"/>
              </a:rPr>
              <a:t>LDA </a:t>
            </a:r>
            <a:r>
              <a:rPr lang="en-US" sz="2000" dirty="0">
                <a:solidFill>
                  <a:schemeClr val="tx1"/>
                </a:solidFill>
                <a:latin typeface="Calibri" pitchFamily="34" charset="0"/>
                <a:ea typeface="Calibri" pitchFamily="34" charset="-122"/>
                <a:cs typeface="Calibri" pitchFamily="34" charset="-120"/>
              </a:rPr>
              <a:t>[0.054, 0.104]</a:t>
            </a:r>
            <a:endParaRPr lang="en-US" sz="2000" dirty="0"/>
          </a:p>
        </p:txBody>
      </p:sp>
      <p:sp>
        <p:nvSpPr>
          <p:cNvPr id="19" name="Text 16"/>
          <p:cNvSpPr txBox="1"/>
          <p:nvPr/>
        </p:nvSpPr>
        <p:spPr>
          <a:xfrm>
            <a:off x="8503920" y="3657600"/>
            <a:ext cx="1737360" cy="731520"/>
          </a:xfrm>
          <a:prstGeom prst="rect">
            <a:avLst/>
          </a:prstGeom>
          <a:noFill/>
          <a:ln/>
        </p:spPr>
        <p:txBody>
          <a:bodyPr wrap="square" lIns="0" tIns="0" rIns="0" bIns="0" rtlCol="0" anchor="ctr"/>
          <a:lstStyle/>
          <a:p>
            <a:pPr marL="0" indent="0">
              <a:buNone/>
            </a:pPr>
            <a:r>
              <a:rPr lang="en-US" sz="4400" b="1" dirty="0">
                <a:solidFill>
                  <a:schemeClr val="accent2"/>
                </a:solidFill>
                <a:latin typeface="Calibri" pitchFamily="34" charset="0"/>
                <a:ea typeface="Calibri" pitchFamily="34" charset="-122"/>
                <a:cs typeface="Calibri" pitchFamily="34" charset="-120"/>
              </a:rPr>
              <a:t>+0.071</a:t>
            </a:r>
            <a:endParaRPr lang="en-US" sz="4400" dirty="0"/>
          </a:p>
        </p:txBody>
      </p:sp>
      <p:sp>
        <p:nvSpPr>
          <p:cNvPr id="20" name="Text 17"/>
          <p:cNvSpPr txBox="1"/>
          <p:nvPr/>
        </p:nvSpPr>
        <p:spPr>
          <a:xfrm>
            <a:off x="8503920" y="4389120"/>
            <a:ext cx="2926080" cy="365760"/>
          </a:xfrm>
          <a:prstGeom prst="rect">
            <a:avLst/>
          </a:prstGeom>
          <a:noFill/>
          <a:ln/>
        </p:spPr>
        <p:txBody>
          <a:bodyPr wrap="square" lIns="508" tIns="508" rIns="508" bIns="508" rtlCol="0" anchor="t"/>
          <a:lstStyle/>
          <a:p>
            <a:pPr marL="0" indent="0">
              <a:buNone/>
            </a:pPr>
            <a:r>
              <a:rPr lang="en-US" sz="2000" b="1" dirty="0">
                <a:solidFill>
                  <a:schemeClr val="tx1"/>
                </a:solidFill>
                <a:latin typeface="Calibri" pitchFamily="34" charset="0"/>
                <a:ea typeface="Calibri" pitchFamily="34" charset="-122"/>
                <a:cs typeface="Calibri" pitchFamily="34" charset="-120"/>
              </a:rPr>
              <a:t>Logística </a:t>
            </a:r>
            <a:r>
              <a:rPr lang="en-US" sz="2000" dirty="0">
                <a:solidFill>
                  <a:schemeClr val="tx1"/>
                </a:solidFill>
                <a:latin typeface="Calibri" pitchFamily="34" charset="0"/>
                <a:ea typeface="Calibri" pitchFamily="34" charset="-122"/>
                <a:cs typeface="Calibri" pitchFamily="34" charset="-120"/>
              </a:rPr>
              <a:t>[0.047, 0.095]</a:t>
            </a:r>
            <a:endParaRPr lang="en-US" sz="2000" dirty="0"/>
          </a:p>
        </p:txBody>
      </p:sp>
      <p:sp>
        <p:nvSpPr>
          <p:cNvPr id="21" name="Detección"/>
          <p:cNvSpPr/>
          <p:nvPr/>
        </p:nvSpPr>
        <p:spPr>
          <a:xfrm>
            <a:off x="5074920" y="5029200"/>
            <a:ext cx="6565392" cy="1280160"/>
          </a:xfrm>
          <a:prstGeom prst="roundRect">
            <a:avLst>
              <a:gd name="adj" fmla="val 100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22" name="Text 19"/>
          <p:cNvSpPr txBox="1"/>
          <p:nvPr/>
        </p:nvSpPr>
        <p:spPr>
          <a:xfrm>
            <a:off x="5257800" y="5084064"/>
            <a:ext cx="6199632"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Superaciones detectadas</a:t>
            </a:r>
            <a:endParaRPr lang="en-US" sz="2000" dirty="0"/>
          </a:p>
        </p:txBody>
      </p:sp>
      <p:sp>
        <p:nvSpPr>
          <p:cNvPr id="23" name="Text 20"/>
          <p:cNvSpPr txBox="1"/>
          <p:nvPr/>
        </p:nvSpPr>
        <p:spPr>
          <a:xfrm>
            <a:off x="5257800" y="5440680"/>
            <a:ext cx="3017520" cy="777240"/>
          </a:xfrm>
          <a:prstGeom prst="rect">
            <a:avLst/>
          </a:prstGeom>
          <a:noFill/>
          <a:ln/>
        </p:spPr>
        <p:txBody>
          <a:bodyPr wrap="none" lIns="0" tIns="0" rIns="0" bIns="0" rtlCol="0" anchor="ctr"/>
          <a:lstStyle/>
          <a:p>
            <a:pPr marL="0" indent="0">
              <a:buNone/>
            </a:pPr>
            <a:r>
              <a:rPr lang="en-US" sz="4400" b="1" dirty="0">
                <a:solidFill>
                  <a:schemeClr val="accent1"/>
                </a:solidFill>
                <a:latin typeface="Calibri" pitchFamily="34" charset="0"/>
                <a:ea typeface="Calibri" pitchFamily="34" charset="-122"/>
                <a:cs typeface="Calibri" pitchFamily="34" charset="-120"/>
              </a:rPr>
              <a:t>56 %</a:t>
            </a:r>
            <a:r>
              <a:rPr lang="en-US" sz="2400" b="1" dirty="0">
                <a:solidFill>
                  <a:schemeClr val="accent5"/>
                </a:solidFill>
                <a:latin typeface="Calibri" pitchFamily="34" charset="0"/>
                <a:ea typeface="Calibri" pitchFamily="34" charset="-122"/>
                <a:cs typeface="Calibri" pitchFamily="34" charset="-120"/>
              </a:rPr>
              <a:t> → </a:t>
            </a:r>
            <a:r>
              <a:rPr lang="en-US" sz="4400" b="1" dirty="0">
                <a:solidFill>
                  <a:schemeClr val="accent2"/>
                </a:solidFill>
                <a:latin typeface="Calibri" pitchFamily="34" charset="0"/>
                <a:ea typeface="Calibri" pitchFamily="34" charset="-122"/>
                <a:cs typeface="Calibri" pitchFamily="34" charset="-120"/>
              </a:rPr>
              <a:t>74 %</a:t>
            </a:r>
            <a:endParaRPr lang="en-US" sz="4400" dirty="0"/>
          </a:p>
        </p:txBody>
      </p:sp>
      <p:sp>
        <p:nvSpPr>
          <p:cNvPr id="24" name="Text 21"/>
          <p:cNvSpPr txBox="1"/>
          <p:nvPr/>
        </p:nvSpPr>
        <p:spPr>
          <a:xfrm>
            <a:off x="8503920" y="5440680"/>
            <a:ext cx="2953512" cy="777240"/>
          </a:xfrm>
          <a:prstGeom prst="rect">
            <a:avLst/>
          </a:prstGeom>
          <a:noFill/>
          <a:ln/>
        </p:spPr>
        <p:txBody>
          <a:bodyPr wrap="square" lIns="508" tIns="508" rIns="508" bIns="508" rtlCol="0" anchor="ctr"/>
          <a:lstStyle/>
          <a:p>
            <a:pPr marL="0" indent="0">
              <a:buNone/>
            </a:pPr>
            <a:r>
              <a:rPr lang="en-US" sz="2000" dirty="0">
                <a:solidFill>
                  <a:schemeClr val="tx1"/>
                </a:solidFill>
                <a:latin typeface="Calibri" pitchFamily="34" charset="0"/>
                <a:ea typeface="Calibri" pitchFamily="34" charset="-122"/>
                <a:cs typeface="Calibri" pitchFamily="34" charset="-120"/>
              </a:rPr>
              <a:t>de los días-estación con PM2.5 &gt; 25</a:t>
            </a:r>
            <a:endParaRPr lang="en-US" sz="20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La mejora se concentra de marzo a mayo; viento débil, presión baja y calor la acompañan</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Daniel</a:t>
            </a:r>
            <a:endParaRPr lang="en-US" sz="2000" dirty="0"/>
          </a:p>
        </p:txBody>
      </p:sp>
      <p:sp>
        <p:nvSpPr>
          <p:cNvPr id="6" name="Tarjeta temporada"/>
          <p:cNvSpPr/>
          <p:nvPr/>
        </p:nvSpPr>
        <p:spPr>
          <a:xfrm>
            <a:off x="548640" y="1417320"/>
            <a:ext cx="5440680" cy="4572000"/>
          </a:xfrm>
          <a:prstGeom prst="roundRect">
            <a:avLst>
              <a:gd name="adj" fmla="val 28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Text 5"/>
          <p:cNvSpPr txBox="1"/>
          <p:nvPr/>
        </p:nvSpPr>
        <p:spPr>
          <a:xfrm>
            <a:off x="731520" y="1508760"/>
            <a:ext cx="5074920"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Mejora del AUC por temporada</a:t>
            </a:r>
            <a:endParaRPr lang="en-US" sz="2000" dirty="0"/>
          </a:p>
        </p:txBody>
      </p:sp>
      <p:pic>
        <p:nvPicPr>
          <p:cNvPr id="8" name="pres_dauc_temporada.png" descr="Mejora del AUC por temporada con intervalo de 95 por ciento"/>
          <p:cNvPicPr>
            <a:picLocks noChangeAspect="1"/>
          </p:cNvPicPr>
          <p:nvPr/>
        </p:nvPicPr>
        <p:blipFill>
          <a:blip r:embed="rId3"/>
          <a:stretch>
            <a:fillRect/>
          </a:stretch>
        </p:blipFill>
        <p:spPr>
          <a:xfrm>
            <a:off x="617220" y="1965960"/>
            <a:ext cx="5303520" cy="2926080"/>
          </a:xfrm>
          <a:prstGeom prst="rect">
            <a:avLst/>
          </a:prstGeom>
        </p:spPr>
      </p:pic>
      <p:sp>
        <p:nvSpPr>
          <p:cNvPr id="9" name="Text 6"/>
          <p:cNvSpPr txBox="1"/>
          <p:nvPr/>
        </p:nvSpPr>
        <p:spPr>
          <a:xfrm>
            <a:off x="731520" y="5029200"/>
            <a:ext cx="5074920" cy="1234440"/>
          </a:xfrm>
          <a:prstGeom prst="rect">
            <a:avLst/>
          </a:prstGeom>
          <a:noFill/>
          <a:ln/>
        </p:spPr>
        <p:txBody>
          <a:bodyPr wrap="square" lIns="508" tIns="508" rIns="508" bIns="508" rtlCol="0" anchor="t"/>
          <a:lstStyle/>
          <a:p>
            <a:pPr marL="0" indent="0">
              <a:buNone/>
            </a:pPr>
            <a:r>
              <a:rPr lang="en-US" sz="2000" b="1" dirty="0">
                <a:solidFill>
                  <a:schemeClr val="accent2"/>
                </a:solidFill>
                <a:latin typeface="Calibri" pitchFamily="34" charset="0"/>
                <a:ea typeface="Calibri" pitchFamily="34" charset="-122"/>
                <a:cs typeface="Calibri" pitchFamily="34" charset="-120"/>
              </a:rPr>
              <a:t>Marzo–mayo: +0.151. </a:t>
            </a:r>
            <a:r>
              <a:rPr lang="en-US" sz="2000" dirty="0">
                <a:solidFill>
                  <a:schemeClr val="tx1"/>
                </a:solidFill>
                <a:latin typeface="Calibri" pitchFamily="34" charset="0"/>
                <a:ea typeface="Calibri" pitchFamily="34" charset="-122"/>
                <a:cs typeface="Calibri" pitchFamily="34" charset="-120"/>
              </a:rPr>
              <a:t>En lluvias el intervalo incluye el cero: no se distingue.</a:t>
            </a:r>
            <a:endParaRPr lang="en-US" sz="2000" dirty="0"/>
          </a:p>
        </p:txBody>
      </p:sp>
      <p:sp>
        <p:nvSpPr>
          <p:cNvPr id="10" name="Tarjeta odds"/>
          <p:cNvSpPr/>
          <p:nvPr/>
        </p:nvSpPr>
        <p:spPr>
          <a:xfrm>
            <a:off x="6199632" y="1417320"/>
            <a:ext cx="5440680" cy="4572000"/>
          </a:xfrm>
          <a:prstGeom prst="roundRect">
            <a:avLst>
              <a:gd name="adj" fmla="val 2800"/>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1" name="Text 8"/>
          <p:cNvSpPr txBox="1"/>
          <p:nvPr/>
        </p:nvSpPr>
        <p:spPr>
          <a:xfrm>
            <a:off x="6382512" y="1508760"/>
            <a:ext cx="5074920"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Odds ratio (logística), signo estable</a:t>
            </a:r>
            <a:endParaRPr lang="en-US" sz="2000" dirty="0"/>
          </a:p>
        </p:txBody>
      </p:sp>
      <p:pic>
        <p:nvPicPr>
          <p:cNvPr id="12" name="pres_or_logistica.png" descr="Odds ratio por una desviación estándar de las variables meteorológicas de signo estable"/>
          <p:cNvPicPr>
            <a:picLocks noChangeAspect="1"/>
          </p:cNvPicPr>
          <p:nvPr/>
        </p:nvPicPr>
        <p:blipFill>
          <a:blip r:embed="rId4"/>
          <a:stretch>
            <a:fillRect/>
          </a:stretch>
        </p:blipFill>
        <p:spPr>
          <a:xfrm>
            <a:off x="6268212" y="1965960"/>
            <a:ext cx="5303520" cy="3108960"/>
          </a:xfrm>
          <a:prstGeom prst="rect">
            <a:avLst/>
          </a:prstGeom>
        </p:spPr>
      </p:pic>
      <p:sp>
        <p:nvSpPr>
          <p:cNvPr id="13" name="Text 9"/>
          <p:cNvSpPr txBox="1"/>
          <p:nvPr/>
        </p:nvSpPr>
        <p:spPr>
          <a:xfrm>
            <a:off x="6382512" y="5166360"/>
            <a:ext cx="5074920" cy="1097280"/>
          </a:xfrm>
          <a:prstGeom prst="rect">
            <a:avLst/>
          </a:prstGeom>
          <a:noFill/>
          <a:ln/>
        </p:spPr>
        <p:txBody>
          <a:bodyPr wrap="square" lIns="508" tIns="508" rIns="508" bIns="508" rtlCol="0" anchor="t"/>
          <a:lstStyle/>
          <a:p>
            <a:pPr marL="0" indent="0">
              <a:buNone/>
            </a:pPr>
            <a:r>
              <a:rPr lang="en-US" sz="2000" b="1" dirty="0">
                <a:solidFill>
                  <a:schemeClr val="accent2"/>
                </a:solidFill>
                <a:latin typeface="Calibri" pitchFamily="34" charset="0"/>
                <a:ea typeface="Calibri" pitchFamily="34" charset="-122"/>
                <a:cs typeface="Calibri" pitchFamily="34" charset="-120"/>
              </a:rPr>
              <a:t>Se asocia, no causa. </a:t>
            </a:r>
            <a:r>
              <a:rPr lang="en-US" sz="2000" dirty="0">
                <a:solidFill>
                  <a:schemeClr val="tx1"/>
                </a:solidFill>
                <a:latin typeface="Calibri" pitchFamily="34" charset="0"/>
                <a:ea typeface="Calibri" pitchFamily="34" charset="-122"/>
                <a:cs typeface="Calibri" pitchFamily="34" charset="-120"/>
              </a:rPr>
              <a:t>Menos viento, presión baja y más calor acompañan a la superación.</a:t>
            </a:r>
            <a:endParaRPr lang="en-US" sz="20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El PM2.5 de ayer supera al clima, y un corte de 0.182 detecta 84 % de las superaciones</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Daniel</a:t>
            </a:r>
            <a:endParaRPr lang="en-US" sz="2000" dirty="0"/>
          </a:p>
        </p:txBody>
      </p:sp>
      <p:sp>
        <p:nvSpPr>
          <p:cNvPr id="6" name="Tarjeta persistencia"/>
          <p:cNvSpPr/>
          <p:nvPr/>
        </p:nvSpPr>
        <p:spPr>
          <a:xfrm>
            <a:off x="548640" y="1417320"/>
            <a:ext cx="5440680" cy="4663440"/>
          </a:xfrm>
          <a:prstGeom prst="roundRect">
            <a:avLst>
              <a:gd name="adj" fmla="val 274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Text 5"/>
          <p:cNvSpPr txBox="1"/>
          <p:nvPr/>
        </p:nvSpPr>
        <p:spPr>
          <a:xfrm>
            <a:off x="731520" y="1508760"/>
            <a:ext cx="5074920"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AUC con PM2.5 de ayer (n = 6 280)</a:t>
            </a:r>
            <a:endParaRPr lang="en-US" sz="2000" dirty="0"/>
          </a:p>
        </p:txBody>
      </p:sp>
      <p:pic>
        <p:nvPicPr>
          <p:cNvPr id="8" name="pres_persistencia.png" descr="AUC de M0, M1, MP y MP1 en la prueba"/>
          <p:cNvPicPr>
            <a:picLocks noChangeAspect="1"/>
          </p:cNvPicPr>
          <p:nvPr/>
        </p:nvPicPr>
        <p:blipFill>
          <a:blip r:embed="rId3"/>
          <a:stretch>
            <a:fillRect/>
          </a:stretch>
        </p:blipFill>
        <p:spPr>
          <a:xfrm>
            <a:off x="617220" y="1920240"/>
            <a:ext cx="5303520" cy="3383280"/>
          </a:xfrm>
          <a:prstGeom prst="rect">
            <a:avLst/>
          </a:prstGeom>
        </p:spPr>
      </p:pic>
      <p:sp>
        <p:nvSpPr>
          <p:cNvPr id="9" name="Text 6"/>
          <p:cNvSpPr txBox="1"/>
          <p:nvPr/>
        </p:nvSpPr>
        <p:spPr>
          <a:xfrm>
            <a:off x="731520" y="5349240"/>
            <a:ext cx="5074920" cy="1005840"/>
          </a:xfrm>
          <a:prstGeom prst="rect">
            <a:avLst/>
          </a:prstGeom>
          <a:noFill/>
          <a:ln/>
        </p:spPr>
        <p:txBody>
          <a:bodyPr wrap="square" lIns="508" tIns="508" rIns="508" bIns="508" rtlCol="0" anchor="t"/>
          <a:lstStyle/>
          <a:p>
            <a:pPr marL="0" indent="0">
              <a:buNone/>
            </a:pPr>
            <a:r>
              <a:rPr lang="en-US" sz="2000" b="1" dirty="0">
                <a:solidFill>
                  <a:schemeClr val="accent2"/>
                </a:solidFill>
                <a:latin typeface="Calibri" pitchFamily="34" charset="0"/>
                <a:ea typeface="Calibri" pitchFamily="34" charset="-122"/>
                <a:cs typeface="Calibri" pitchFamily="34" charset="-120"/>
              </a:rPr>
              <a:t>Ayer pesa más que el clima: </a:t>
            </a:r>
            <a:r>
              <a:rPr lang="en-US" sz="2000" dirty="0">
                <a:solidFill>
                  <a:schemeClr val="tx1"/>
                </a:solidFill>
                <a:latin typeface="Calibri" pitchFamily="34" charset="0"/>
                <a:ea typeface="Calibri" pitchFamily="34" charset="-122"/>
                <a:cs typeface="Calibri" pitchFamily="34" charset="-120"/>
              </a:rPr>
              <a:t>MP − M1 = 0.080. El clima agrega +0.016 [0.008, 0.025] sobre ayer.</a:t>
            </a:r>
            <a:endParaRPr lang="en-US" sz="2000" dirty="0"/>
          </a:p>
        </p:txBody>
      </p:sp>
      <p:sp>
        <p:nvSpPr>
          <p:cNvPr id="10" name="Tarjeta umbral"/>
          <p:cNvSpPr/>
          <p:nvPr/>
        </p:nvSpPr>
        <p:spPr>
          <a:xfrm>
            <a:off x="6199632" y="1417320"/>
            <a:ext cx="5440680" cy="4663440"/>
          </a:xfrm>
          <a:prstGeom prst="roundRect">
            <a:avLst>
              <a:gd name="adj" fmla="val 2745"/>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1" name="Text 8"/>
          <p:cNvSpPr txBox="1"/>
          <p:nvPr/>
        </p:nvSpPr>
        <p:spPr>
          <a:xfrm>
            <a:off x="6382512" y="1508760"/>
            <a:ext cx="5074920" cy="365760"/>
          </a:xfrm>
          <a:prstGeom prst="rect">
            <a:avLst/>
          </a:prstGeom>
          <a:noFill/>
          <a:ln/>
        </p:spPr>
        <p:txBody>
          <a:bodyPr wrap="square" lIns="508" tIns="508" rIns="508" bIns="508" rtlCol="0" anchor="t"/>
          <a:lstStyle/>
          <a:p>
            <a:pPr marL="0" indent="0">
              <a:buNone/>
            </a:pPr>
            <a:r>
              <a:rPr lang="en-US" sz="2000" b="1" dirty="0">
                <a:solidFill>
                  <a:schemeClr val="tx2"/>
                </a:solidFill>
                <a:latin typeface="Calibri" pitchFamily="34" charset="0"/>
                <a:ea typeface="Calibri" pitchFamily="34" charset="-122"/>
                <a:cs typeface="Calibri" pitchFamily="34" charset="-120"/>
              </a:rPr>
              <a:t>Corte de vigilancia: 0.182</a:t>
            </a:r>
            <a:endParaRPr lang="en-US" sz="2000" dirty="0"/>
          </a:p>
        </p:txBody>
      </p:sp>
      <p:pic>
        <p:nvPicPr>
          <p:cNvPr id="12" name="pres_umbral.png" descr="Sensibilidad, especificidad y valor predictivo positivo según el corte"/>
          <p:cNvPicPr>
            <a:picLocks noChangeAspect="1"/>
          </p:cNvPicPr>
          <p:nvPr/>
        </p:nvPicPr>
        <p:blipFill>
          <a:blip r:embed="rId4"/>
          <a:stretch>
            <a:fillRect/>
          </a:stretch>
        </p:blipFill>
        <p:spPr>
          <a:xfrm>
            <a:off x="6268212" y="1920240"/>
            <a:ext cx="5303520" cy="3383280"/>
          </a:xfrm>
          <a:prstGeom prst="rect">
            <a:avLst/>
          </a:prstGeom>
        </p:spPr>
      </p:pic>
      <p:sp>
        <p:nvSpPr>
          <p:cNvPr id="13" name="Text 9"/>
          <p:cNvSpPr txBox="1"/>
          <p:nvPr/>
        </p:nvSpPr>
        <p:spPr>
          <a:xfrm>
            <a:off x="6382512" y="5349240"/>
            <a:ext cx="5074920" cy="1005840"/>
          </a:xfrm>
          <a:prstGeom prst="rect">
            <a:avLst/>
          </a:prstGeom>
          <a:noFill/>
          <a:ln/>
        </p:spPr>
        <p:txBody>
          <a:bodyPr wrap="square" lIns="508" tIns="508" rIns="508" bIns="508" rtlCol="0" anchor="t"/>
          <a:lstStyle/>
          <a:p>
            <a:pPr marL="0" indent="0">
              <a:buNone/>
            </a:pPr>
            <a:r>
              <a:rPr lang="en-US" sz="2000" b="1" dirty="0">
                <a:solidFill>
                  <a:schemeClr val="accent2"/>
                </a:solidFill>
                <a:latin typeface="Calibri" pitchFamily="34" charset="0"/>
                <a:ea typeface="Calibri" pitchFamily="34" charset="-122"/>
                <a:cs typeface="Calibri" pitchFamily="34" charset="-120"/>
              </a:rPr>
              <a:t>Elegido en validación para detectar ≥ 80 %. </a:t>
            </a:r>
            <a:r>
              <a:rPr lang="en-US" sz="2000" dirty="0">
                <a:solidFill>
                  <a:schemeClr val="tx1"/>
                </a:solidFill>
                <a:latin typeface="Calibri" pitchFamily="34" charset="0"/>
                <a:ea typeface="Calibri" pitchFamily="34" charset="-122"/>
                <a:cs typeface="Calibri" pitchFamily="34" charset="-120"/>
              </a:rPr>
              <a:t>En la prueba: 1.46 falsas alarmas por detección.</a:t>
            </a:r>
            <a:endParaRPr lang="en-US" sz="2000" dirty="0"/>
          </a:p>
        </p:txBody>
      </p:sp>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Los supuestos del LDA no se cumplen; por eso validamos y no interpretamos fino</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Pablo</a:t>
            </a:r>
            <a:endParaRPr lang="en-US" sz="2000" dirty="0"/>
          </a:p>
        </p:txBody>
      </p:sp>
      <p:graphicFrame>
        <p:nvGraphicFramePr>
          <p:cNvPr id="12" name="Tabla de supuestos"/>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502920">
                <a:tc>
                  <a:txBody>
                    <a:bodyPr/>
                    <a:lstStyle/>
                    <a:p>
                      <a:pPr marL="0" indent="0">
                        <a:buNone/>
                      </a:pPr>
                      <a:r>
                        <a:rPr lang="en-US" sz="2000" b="1" dirty="0">
                          <a:solidFill>
                            <a:schemeClr val="bg1"/>
                          </a:solidFill>
                          <a:latin typeface="Calibri" pitchFamily="34" charset="0"/>
                          <a:ea typeface="Calibri" pitchFamily="34" charset="-122"/>
                          <a:cs typeface="Calibri" pitchFamily="34" charset="-120"/>
                        </a:rPr>
                        <a:t>Supuesto o límite</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tx2"/>
                    </a:solidFill>
                  </a:tcPr>
                </a:tc>
                <a:tc>
                  <a:txBody>
                    <a:bodyPr/>
                    <a:lstStyle/>
                    <a:p>
                      <a:pPr marL="0" indent="0">
                        <a:buNone/>
                      </a:pPr>
                      <a:r>
                        <a:rPr lang="en-US" sz="2000" b="1" dirty="0">
                          <a:solidFill>
                            <a:schemeClr val="bg1"/>
                          </a:solidFill>
                          <a:latin typeface="Calibri" pitchFamily="34" charset="0"/>
                          <a:ea typeface="Calibri" pitchFamily="34" charset="-122"/>
                          <a:cs typeface="Calibri" pitchFamily="34" charset="-120"/>
                        </a:rPr>
                        <a:t>Lo que diagnosticamos</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tx2"/>
                    </a:solidFill>
                  </a:tcPr>
                </a:tc>
                <a:tc>
                  <a:txBody>
                    <a:bodyPr/>
                    <a:lstStyle/>
                    <a:p>
                      <a:pPr marL="0" indent="0">
                        <a:buNone/>
                      </a:pPr>
                      <a:r>
                        <a:rPr lang="en-US" sz="2000" b="1" dirty="0">
                          <a:solidFill>
                            <a:schemeClr val="bg1"/>
                          </a:solidFill>
                          <a:latin typeface="Calibri" pitchFamily="34" charset="0"/>
                          <a:ea typeface="Calibri" pitchFamily="34" charset="-122"/>
                          <a:cs typeface="Calibri" pitchFamily="34" charset="-120"/>
                        </a:rPr>
                        <a:t>Qué implica y qué hicimos</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buNone/>
                      </a:pPr>
                      <a:r>
                        <a:rPr lang="en-US" sz="2000" b="1" dirty="0">
                          <a:solidFill>
                            <a:schemeClr val="tx2"/>
                          </a:solidFill>
                          <a:latin typeface="Calibri" pitchFamily="34" charset="0"/>
                          <a:ea typeface="Calibri" pitchFamily="34" charset="-122"/>
                          <a:cs typeface="Calibri" pitchFamily="34" charset="-120"/>
                        </a:rPr>
                        <a:t>Normalidad y covarianzas iguales</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No se cumplen (Mardia, M de Box)</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LDA como clasificador; la evidencia es la validación y la logística</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buNone/>
                      </a:pPr>
                      <a:r>
                        <a:rPr lang="en-US" sz="2000" b="1" dirty="0">
                          <a:solidFill>
                            <a:schemeClr val="tx2"/>
                          </a:solidFill>
                          <a:latin typeface="Calibri" pitchFamily="34" charset="0"/>
                          <a:ea typeface="Calibri" pitchFamily="34" charset="-122"/>
                          <a:cs typeface="Calibri" pitchFamily="34" charset="-120"/>
                        </a:rPr>
                        <a:t>Independencia</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Residuos autocorrelacionados (0.42 a un día)</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Bootstrap por bloques: estima la incertidumbre, no la elimina</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68680">
                <a:tc>
                  <a:txBody>
                    <a:bodyPr/>
                    <a:lstStyle/>
                    <a:p>
                      <a:pPr marL="0" indent="0">
                        <a:buNone/>
                      </a:pPr>
                      <a:r>
                        <a:rPr lang="en-US" sz="2000" b="1" dirty="0">
                          <a:solidFill>
                            <a:schemeClr val="tx2"/>
                          </a:solidFill>
                          <a:latin typeface="Calibri" pitchFamily="34" charset="0"/>
                          <a:ea typeface="Calibri" pitchFamily="34" charset="-122"/>
                          <a:cs typeface="Calibri" pitchFamily="34" charset="-120"/>
                        </a:rPr>
                        <a:t>Prueba ya usada</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2024–2025 se usó en etapas previas</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Se lee con cautela: no es una prueba virgen</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buNone/>
                      </a:pPr>
                      <a:r>
                        <a:rPr lang="en-US" sz="2000" b="1" dirty="0">
                          <a:solidFill>
                            <a:schemeClr val="tx2"/>
                          </a:solidFill>
                          <a:latin typeface="Calibri" pitchFamily="34" charset="0"/>
                          <a:ea typeface="Calibri" pitchFamily="34" charset="-122"/>
                          <a:cs typeface="Calibri" pitchFamily="34" charset="-120"/>
                        </a:rPr>
                        <a:t>Exclusiones</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189 días sin clima: 33.3 % de superación frente a 27.0 %</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Posible sesgo; sensibilidades dan 0.071 a 0.082</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68680">
                <a:tc>
                  <a:txBody>
                    <a:bodyPr/>
                    <a:lstStyle/>
                    <a:p>
                      <a:pPr marL="0" indent="0">
                        <a:buNone/>
                      </a:pPr>
                      <a:r>
                        <a:rPr lang="en-US" sz="2000" b="1" dirty="0">
                          <a:solidFill>
                            <a:schemeClr val="tx2"/>
                          </a:solidFill>
                          <a:latin typeface="Calibri" pitchFamily="34" charset="0"/>
                          <a:ea typeface="Calibri" pitchFamily="34" charset="-122"/>
                          <a:cs typeface="Calibri" pitchFamily="34" charset="-120"/>
                        </a:rPr>
                        <a:t>Retrospectivo</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Usa el clima observado del mismo día</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tc>
                  <a:txBody>
                    <a:bodyPr/>
                    <a:lstStyle/>
                    <a:p>
                      <a:pPr marL="0" indent="0">
                        <a:buNone/>
                      </a:pPr>
                      <a:r>
                        <a:rPr lang="en-US" sz="2000" dirty="0">
                          <a:solidFill>
                            <a:schemeClr val="tx1"/>
                          </a:solidFill>
                          <a:latin typeface="Calibri" pitchFamily="34" charset="0"/>
                          <a:ea typeface="Calibri" pitchFamily="34" charset="-122"/>
                          <a:cs typeface="Calibri" pitchFamily="34" charset="-120"/>
                        </a:rPr>
                        <a:t>No es pronóstico: con clima pronosticado la mejora sería menor</a:t>
                      </a:r>
                      <a:endParaRPr lang="en-US" sz="2000" dirty="0">
                        <a:latin typeface="Calibri" charset="0"/>
                        <a:ea typeface="Calibri" charset="0"/>
                        <a:cs typeface="Calibri" charset="0"/>
                      </a:endParaRPr>
                    </a:p>
                  </a:txBody>
                  <a:tcPr marL="109728" marR="109728"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9326880" cy="1051560"/>
          </a:xfrm>
          <a:prstGeom prst="rect">
            <a:avLst/>
          </a:prstGeom>
          <a:noFill/>
          <a:ln/>
        </p:spPr>
        <p:txBody>
          <a:bodyPr wrap="square" lIns="0" tIns="0" rIns="0" bIns="0" rtlCol="0" anchor="ctr"/>
          <a:lstStyle/>
          <a:p>
            <a:pPr marL="0" indent="0" algn="l">
              <a:buNone/>
            </a:pPr>
            <a:r>
              <a:rPr lang="en-US" sz="3200" b="1" dirty="0">
                <a:solidFill>
                  <a:schemeClr val="tx2"/>
                </a:solidFill>
                <a:latin typeface="Calibri" pitchFamily="34" charset="0"/>
                <a:ea typeface="Calibri" pitchFamily="34" charset="-122"/>
                <a:cs typeface="Calibri" pitchFamily="34" charset="-120"/>
              </a:rPr>
              <a:t>Sí mejora, en 0.079 de AUC; lo que falta es probarlo con pronóstico</a:t>
            </a:r>
            <a:endParaRPr lang="en-US" sz="3200" dirty="0"/>
          </a:p>
        </p:txBody>
      </p:sp>
      <p:sp>
        <p:nvSpPr>
          <p:cNvPr id="3" name="Expositor"/>
          <p:cNvSpPr/>
          <p:nvPr/>
        </p:nvSpPr>
        <p:spPr>
          <a:xfrm>
            <a:off x="10012680" y="457200"/>
            <a:ext cx="1627632" cy="457200"/>
          </a:xfrm>
          <a:prstGeom prst="roundRect">
            <a:avLst>
              <a:gd name="adj" fmla="val 50000"/>
            </a:avLst>
          </a:prstGeom>
          <a:solidFill>
            <a:schemeClr val="bg1"/>
          </a:solidFill>
          <a:ln w="19050">
            <a:solidFill>
              <a:schemeClr val="accent4"/>
            </a:solidFill>
            <a:prstDash val="solid"/>
          </a:ln>
        </p:spPr>
      </p:sp>
      <p:sp>
        <p:nvSpPr>
          <p:cNvPr id="4" name="Sol expositor"/>
          <p:cNvSpPr/>
          <p:nvPr/>
        </p:nvSpPr>
        <p:spPr>
          <a:xfrm>
            <a:off x="10104120" y="548640"/>
            <a:ext cx="274320" cy="274320"/>
          </a:xfrm>
          <a:prstGeom prst="ellipse">
            <a:avLst/>
          </a:prstGeom>
          <a:solidFill>
            <a:schemeClr val="accent3"/>
          </a:solidFill>
          <a:ln w="6350">
            <a:solidFill>
              <a:schemeClr val="accent3"/>
            </a:solidFill>
            <a:prstDash val="solid"/>
          </a:ln>
        </p:spPr>
      </p:sp>
      <p:sp>
        <p:nvSpPr>
          <p:cNvPr id="5" name="Text 3"/>
          <p:cNvSpPr txBox="1"/>
          <p:nvPr/>
        </p:nvSpPr>
        <p:spPr>
          <a:xfrm>
            <a:off x="10424160" y="457200"/>
            <a:ext cx="1188720" cy="457200"/>
          </a:xfrm>
          <a:prstGeom prst="rect">
            <a:avLst/>
          </a:prstGeom>
          <a:noFill/>
          <a:ln/>
        </p:spPr>
        <p:txBody>
          <a:bodyPr wrap="square" lIns="0" tIns="0" rIns="0" bIns="0"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Ignacio</a:t>
            </a:r>
            <a:endParaRPr lang="en-US" sz="2000" dirty="0"/>
          </a:p>
        </p:txBody>
      </p:sp>
      <p:sp>
        <p:nvSpPr>
          <p:cNvPr id="6" name="Tarjeta respuesta"/>
          <p:cNvSpPr/>
          <p:nvPr/>
        </p:nvSpPr>
        <p:spPr>
          <a:xfrm>
            <a:off x="548640" y="1463040"/>
            <a:ext cx="5394960" cy="4937760"/>
          </a:xfrm>
          <a:prstGeom prst="roundRect">
            <a:avLst>
              <a:gd name="adj" fmla="val 2593"/>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7" name="Cinta sí"/>
          <p:cNvSpPr/>
          <p:nvPr/>
        </p:nvSpPr>
        <p:spPr>
          <a:xfrm>
            <a:off x="731520" y="1600200"/>
            <a:ext cx="5029200" cy="502920"/>
          </a:xfrm>
          <a:prstGeom prst="roundRect">
            <a:avLst>
              <a:gd name="adj" fmla="val 21818"/>
            </a:avLst>
          </a:prstGeom>
          <a:solidFill>
            <a:schemeClr val="tx2"/>
          </a:solidFill>
          <a:ln w="6350">
            <a:solidFill>
              <a:schemeClr val="tx2"/>
            </a:solidFill>
            <a:prstDash val="solid"/>
          </a:ln>
        </p:spPr>
      </p:sp>
      <p:sp>
        <p:nvSpPr>
          <p:cNvPr id="8" name="Text 6"/>
          <p:cNvSpPr txBox="1"/>
          <p:nvPr/>
        </p:nvSpPr>
        <p:spPr>
          <a:xfrm>
            <a:off x="868680" y="1600200"/>
            <a:ext cx="4754880" cy="502920"/>
          </a:xfrm>
          <a:prstGeom prst="rect">
            <a:avLst/>
          </a:prstGeom>
          <a:noFill/>
          <a:ln/>
        </p:spPr>
        <p:txBody>
          <a:bodyPr wrap="square" lIns="508" tIns="508" rIns="508" bIns="508" rtlCol="0" anchor="ctr"/>
          <a:lstStyle/>
          <a:p>
            <a:pPr marL="0" indent="0">
              <a:buNone/>
            </a:pPr>
            <a:r>
              <a:rPr lang="en-US" sz="2200" b="1" dirty="0">
                <a:solidFill>
                  <a:schemeClr val="bg1"/>
                </a:solidFill>
                <a:latin typeface="Calibri" pitchFamily="34" charset="0"/>
                <a:ea typeface="Calibri" pitchFamily="34" charset="-122"/>
                <a:cs typeface="Calibri" pitchFamily="34" charset="-120"/>
              </a:rPr>
              <a:t>Sí, en esta medida</a:t>
            </a:r>
            <a:endParaRPr lang="en-US" sz="2200" dirty="0"/>
          </a:p>
        </p:txBody>
      </p:sp>
      <p:sp>
        <p:nvSpPr>
          <p:cNvPr id="9" name="Text 7"/>
          <p:cNvSpPr txBox="1"/>
          <p:nvPr/>
        </p:nvSpPr>
        <p:spPr>
          <a:xfrm>
            <a:off x="731520" y="2148840"/>
            <a:ext cx="5029200" cy="731520"/>
          </a:xfrm>
          <a:prstGeom prst="rect">
            <a:avLst/>
          </a:prstGeom>
          <a:noFill/>
          <a:ln/>
        </p:spPr>
        <p:txBody>
          <a:bodyPr wrap="square" lIns="0" tIns="0" rIns="0" bIns="0" rtlCol="0" anchor="ctr"/>
          <a:lstStyle/>
          <a:p>
            <a:pPr marL="0" indent="0">
              <a:buNone/>
            </a:pPr>
            <a:r>
              <a:rPr lang="en-US" sz="4400" b="1" dirty="0">
                <a:solidFill>
                  <a:schemeClr val="accent1"/>
                </a:solidFill>
                <a:latin typeface="Calibri" pitchFamily="34" charset="0"/>
                <a:ea typeface="Calibri" pitchFamily="34" charset="-122"/>
                <a:cs typeface="Calibri" pitchFamily="34" charset="-120"/>
              </a:rPr>
              <a:t>0.713</a:t>
            </a:r>
            <a:r>
              <a:rPr lang="en-US" sz="2800" b="1" dirty="0">
                <a:solidFill>
                  <a:schemeClr val="accent5"/>
                </a:solidFill>
                <a:latin typeface="Calibri" pitchFamily="34" charset="0"/>
                <a:ea typeface="Calibri" pitchFamily="34" charset="-122"/>
                <a:cs typeface="Calibri" pitchFamily="34" charset="-120"/>
              </a:rPr>
              <a:t> → </a:t>
            </a:r>
            <a:r>
              <a:rPr lang="en-US" sz="4400" b="1" dirty="0">
                <a:solidFill>
                  <a:schemeClr val="accent2"/>
                </a:solidFill>
                <a:latin typeface="Calibri" pitchFamily="34" charset="0"/>
                <a:ea typeface="Calibri" pitchFamily="34" charset="-122"/>
                <a:cs typeface="Calibri" pitchFamily="34" charset="-120"/>
              </a:rPr>
              <a:t>0.792</a:t>
            </a:r>
            <a:endParaRPr lang="en-US" sz="4400" dirty="0"/>
          </a:p>
        </p:txBody>
      </p:sp>
      <p:sp>
        <p:nvSpPr>
          <p:cNvPr id="10" name="Text 8"/>
          <p:cNvSpPr txBox="1"/>
          <p:nvPr/>
        </p:nvSpPr>
        <p:spPr>
          <a:xfrm>
            <a:off x="731520" y="2880360"/>
            <a:ext cx="5029200" cy="685800"/>
          </a:xfrm>
          <a:prstGeom prst="rect">
            <a:avLst/>
          </a:prstGeom>
          <a:noFill/>
          <a:ln/>
        </p:spPr>
        <p:txBody>
          <a:bodyPr wrap="square" lIns="508" tIns="508" rIns="508" bIns="508" rtlCol="0" anchor="t"/>
          <a:lstStyle/>
          <a:p>
            <a:pPr marL="0" indent="0">
              <a:buNone/>
            </a:pPr>
            <a:r>
              <a:rPr lang="en-US" sz="2000" dirty="0">
                <a:solidFill>
                  <a:schemeClr val="tx1"/>
                </a:solidFill>
                <a:latin typeface="Calibri" pitchFamily="34" charset="0"/>
                <a:ea typeface="Calibri" pitchFamily="34" charset="-122"/>
                <a:cs typeface="Calibri" pitchFamily="34" charset="-120"/>
              </a:rPr>
              <a:t>AUC: +0.079 [0.054, 0.104]. Detección de superaciones: 56 % → 74 %</a:t>
            </a:r>
            <a:endParaRPr lang="en-US" sz="2000" dirty="0"/>
          </a:p>
        </p:txBody>
      </p:sp>
      <p:sp>
        <p:nvSpPr>
          <p:cNvPr id="11" name="Cinta débil"/>
          <p:cNvSpPr/>
          <p:nvPr/>
        </p:nvSpPr>
        <p:spPr>
          <a:xfrm>
            <a:off x="731520" y="3611880"/>
            <a:ext cx="5029200" cy="502920"/>
          </a:xfrm>
          <a:prstGeom prst="roundRect">
            <a:avLst>
              <a:gd name="adj" fmla="val 21818"/>
            </a:avLst>
          </a:prstGeom>
          <a:solidFill>
            <a:schemeClr val="accent5"/>
          </a:solidFill>
          <a:ln w="6350">
            <a:solidFill>
              <a:schemeClr val="accent5"/>
            </a:solidFill>
            <a:prstDash val="solid"/>
          </a:ln>
        </p:spPr>
      </p:sp>
      <p:sp>
        <p:nvSpPr>
          <p:cNvPr id="12" name="Text 10"/>
          <p:cNvSpPr txBox="1"/>
          <p:nvPr/>
        </p:nvSpPr>
        <p:spPr>
          <a:xfrm>
            <a:off x="868680" y="3611880"/>
            <a:ext cx="4754880" cy="502920"/>
          </a:xfrm>
          <a:prstGeom prst="rect">
            <a:avLst/>
          </a:prstGeom>
          <a:noFill/>
          <a:ln/>
        </p:spPr>
        <p:txBody>
          <a:bodyPr wrap="square" lIns="508" tIns="508" rIns="508" bIns="508" rtlCol="0" anchor="ctr"/>
          <a:lstStyle/>
          <a:p>
            <a:pPr marL="0" indent="0">
              <a:buNone/>
            </a:pPr>
            <a:r>
              <a:rPr lang="en-US" sz="2200" b="1" dirty="0">
                <a:solidFill>
                  <a:schemeClr val="bg1"/>
                </a:solidFill>
                <a:latin typeface="Calibri" pitchFamily="34" charset="0"/>
                <a:ea typeface="Calibri" pitchFamily="34" charset="-122"/>
                <a:cs typeface="Calibri" pitchFamily="34" charset="-120"/>
              </a:rPr>
              <a:t>Queda débil</a:t>
            </a:r>
            <a:endParaRPr lang="en-US" sz="2200" dirty="0"/>
          </a:p>
        </p:txBody>
      </p:sp>
      <p:sp>
        <p:nvSpPr>
          <p:cNvPr id="13" name="Text 11"/>
          <p:cNvSpPr txBox="1"/>
          <p:nvPr/>
        </p:nvSpPr>
        <p:spPr>
          <a:xfrm>
            <a:off x="731520" y="4160520"/>
            <a:ext cx="5029200" cy="2148840"/>
          </a:xfrm>
          <a:prstGeom prst="rect">
            <a:avLst/>
          </a:prstGeom>
          <a:noFill/>
          <a:ln/>
        </p:spPr>
        <p:txBody>
          <a:bodyPr wrap="square" lIns="508" tIns="508" rIns="508" bIns="508" rtlCol="0" anchor="t"/>
          <a:lstStyle/>
          <a:p>
            <a:pPr marL="342900" indent="-342900">
              <a:spcAft>
                <a:spcPts val="400"/>
              </a:spcAft>
              <a:buSzPct val="100000"/>
              <a:buChar char="•"/>
            </a:pPr>
            <a:r>
              <a:rPr lang="en-US" sz="2000" dirty="0">
                <a:solidFill>
                  <a:schemeClr val="tx1"/>
                </a:solidFill>
                <a:latin typeface="Calibri" pitchFamily="34" charset="0"/>
                <a:ea typeface="Calibri" pitchFamily="34" charset="-122"/>
                <a:cs typeface="Calibri" pitchFamily="34" charset="-120"/>
              </a:rPr>
              <a:t>Casi sin mejora en lluvias</a:t>
            </a:r>
            <a:endParaRPr lang="en-US" sz="2000" dirty="0"/>
          </a:p>
          <a:p>
            <a:pPr marL="342900" indent="-342900">
              <a:spcAft>
                <a:spcPts val="400"/>
              </a:spcAft>
              <a:buSzPct val="100000"/>
              <a:buChar char="•"/>
            </a:pPr>
            <a:r>
              <a:rPr lang="en-US" sz="2000" dirty="0">
                <a:solidFill>
                  <a:schemeClr val="tx1"/>
                </a:solidFill>
                <a:latin typeface="Calibri" pitchFamily="34" charset="0"/>
                <a:ea typeface="Calibri" pitchFamily="34" charset="-122"/>
                <a:cs typeface="Calibri" pitchFamily="34" charset="-120"/>
              </a:rPr>
              <a:t>Retrospectivo, no pronóstico</a:t>
            </a:r>
            <a:endParaRPr lang="en-US" sz="2000" dirty="0"/>
          </a:p>
          <a:p>
            <a:pPr marL="342900" indent="-342900">
              <a:spcAft>
                <a:spcPts val="400"/>
              </a:spcAft>
              <a:buSzPct val="100000"/>
              <a:buChar char="•"/>
            </a:pPr>
            <a:r>
              <a:rPr lang="en-US" sz="2000" dirty="0">
                <a:solidFill>
                  <a:schemeClr val="tx1"/>
                </a:solidFill>
                <a:latin typeface="Calibri" pitchFamily="34" charset="0"/>
                <a:ea typeface="Calibri" pitchFamily="34" charset="-122"/>
                <a:cs typeface="Calibri" pitchFamily="34" charset="-120"/>
              </a:rPr>
              <a:t>Probabilidades sin calibrar</a:t>
            </a:r>
            <a:endParaRPr lang="en-US" sz="2000" dirty="0"/>
          </a:p>
          <a:p>
            <a:pPr marL="342900" indent="-342900">
              <a:spcAft>
                <a:spcPts val="400"/>
              </a:spcAft>
              <a:buSzPct val="100000"/>
              <a:buChar char="•"/>
            </a:pPr>
            <a:r>
              <a:rPr lang="en-US" sz="2000" dirty="0">
                <a:solidFill>
                  <a:schemeClr val="tx1"/>
                </a:solidFill>
                <a:latin typeface="Calibri" pitchFamily="34" charset="0"/>
                <a:ea typeface="Calibri" pitchFamily="34" charset="-122"/>
                <a:cs typeface="Calibri" pitchFamily="34" charset="-120"/>
              </a:rPr>
              <a:t>El PM2.5 de ayer predice más</a:t>
            </a:r>
            <a:endParaRPr lang="en-US" sz="2000" dirty="0"/>
          </a:p>
        </p:txBody>
      </p:sp>
      <p:sp>
        <p:nvSpPr>
          <p:cNvPr id="14" name="Recomendación 1"/>
          <p:cNvSpPr/>
          <p:nvPr/>
        </p:nvSpPr>
        <p:spPr>
          <a:xfrm>
            <a:off x="6172200" y="1463040"/>
            <a:ext cx="5468112" cy="1069848"/>
          </a:xfrm>
          <a:prstGeom prst="roundRect">
            <a:avLst>
              <a:gd name="adj" fmla="val 1196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5" name="Prioridad 1"/>
          <p:cNvSpPr/>
          <p:nvPr/>
        </p:nvSpPr>
        <p:spPr>
          <a:xfrm>
            <a:off x="6336792" y="1755648"/>
            <a:ext cx="475488" cy="475488"/>
          </a:xfrm>
          <a:prstGeom prst="ellipse">
            <a:avLst/>
          </a:prstGeom>
          <a:solidFill>
            <a:schemeClr val="accent2"/>
          </a:solidFill>
          <a:ln w="6350">
            <a:solidFill>
              <a:schemeClr val="accent2"/>
            </a:solidFill>
            <a:prstDash val="solid"/>
          </a:ln>
        </p:spPr>
      </p:sp>
      <p:sp>
        <p:nvSpPr>
          <p:cNvPr id="16" name="Text 14"/>
          <p:cNvSpPr txBox="1"/>
          <p:nvPr/>
        </p:nvSpPr>
        <p:spPr>
          <a:xfrm>
            <a:off x="6336792" y="1755648"/>
            <a:ext cx="475488" cy="475488"/>
          </a:xfrm>
          <a:prstGeom prst="rect">
            <a:avLst/>
          </a:prstGeom>
          <a:noFill/>
          <a:ln/>
        </p:spPr>
        <p:txBody>
          <a:bodyPr wrap="square" lIns="0" tIns="0" rIns="0" bIns="0"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17" name="Text 15"/>
          <p:cNvSpPr txBox="1"/>
          <p:nvPr/>
        </p:nvSpPr>
        <p:spPr>
          <a:xfrm>
            <a:off x="6949440" y="1508760"/>
            <a:ext cx="4553712" cy="978408"/>
          </a:xfrm>
          <a:prstGeom prst="rect">
            <a:avLst/>
          </a:prstGeom>
          <a:noFill/>
          <a:ln/>
        </p:spPr>
        <p:txBody>
          <a:bodyPr wrap="square" lIns="508" tIns="508" rIns="508" bIns="508" rtlCol="0" anchor="ctr"/>
          <a:lstStyle/>
          <a:p>
            <a:pPr marL="0" indent="0">
              <a:buNone/>
            </a:pPr>
            <a:r>
              <a:rPr lang="en-US" sz="2000" dirty="0">
                <a:solidFill>
                  <a:schemeClr val="tx1"/>
                </a:solidFill>
                <a:latin typeface="Calibri" pitchFamily="34" charset="0"/>
                <a:ea typeface="Calibri" pitchFamily="34" charset="-122"/>
                <a:cs typeface="Calibri" pitchFamily="34" charset="-120"/>
              </a:rPr>
              <a:t>Evaluar con meteorología pronosticada, junto con su área de pronósticos</a:t>
            </a:r>
            <a:endParaRPr lang="en-US" sz="2000" dirty="0"/>
          </a:p>
        </p:txBody>
      </p:sp>
      <p:sp>
        <p:nvSpPr>
          <p:cNvPr id="18" name="Recomendación 2"/>
          <p:cNvSpPr/>
          <p:nvPr/>
        </p:nvSpPr>
        <p:spPr>
          <a:xfrm>
            <a:off x="6172200" y="2624328"/>
            <a:ext cx="5468112" cy="1069848"/>
          </a:xfrm>
          <a:prstGeom prst="roundRect">
            <a:avLst>
              <a:gd name="adj" fmla="val 1196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19" name="Prioridad 2"/>
          <p:cNvSpPr/>
          <p:nvPr/>
        </p:nvSpPr>
        <p:spPr>
          <a:xfrm>
            <a:off x="6336792" y="2916936"/>
            <a:ext cx="475488" cy="475488"/>
          </a:xfrm>
          <a:prstGeom prst="ellipse">
            <a:avLst/>
          </a:prstGeom>
          <a:solidFill>
            <a:schemeClr val="accent2"/>
          </a:solidFill>
          <a:ln w="6350">
            <a:solidFill>
              <a:schemeClr val="accent2"/>
            </a:solidFill>
            <a:prstDash val="solid"/>
          </a:ln>
        </p:spPr>
      </p:sp>
      <p:sp>
        <p:nvSpPr>
          <p:cNvPr id="20" name="Text 18"/>
          <p:cNvSpPr txBox="1"/>
          <p:nvPr/>
        </p:nvSpPr>
        <p:spPr>
          <a:xfrm>
            <a:off x="6336792" y="2916936"/>
            <a:ext cx="475488" cy="475488"/>
          </a:xfrm>
          <a:prstGeom prst="rect">
            <a:avLst/>
          </a:prstGeom>
          <a:noFill/>
          <a:ln/>
        </p:spPr>
        <p:txBody>
          <a:bodyPr wrap="square" lIns="0" tIns="0" rIns="0" bIns="0"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21" name="Text 19"/>
          <p:cNvSpPr txBox="1"/>
          <p:nvPr/>
        </p:nvSpPr>
        <p:spPr>
          <a:xfrm>
            <a:off x="6949440" y="2670048"/>
            <a:ext cx="4553712" cy="978408"/>
          </a:xfrm>
          <a:prstGeom prst="rect">
            <a:avLst/>
          </a:prstGeom>
          <a:noFill/>
          <a:ln/>
        </p:spPr>
        <p:txBody>
          <a:bodyPr wrap="square" lIns="508" tIns="508" rIns="508" bIns="508" rtlCol="0" anchor="ctr"/>
          <a:lstStyle/>
          <a:p>
            <a:pPr marL="0" indent="0">
              <a:buNone/>
            </a:pPr>
            <a:r>
              <a:rPr lang="en-US" sz="2000" dirty="0">
                <a:solidFill>
                  <a:schemeClr val="tx1"/>
                </a:solidFill>
                <a:latin typeface="Calibri" pitchFamily="34" charset="0"/>
                <a:ea typeface="Calibri" pitchFamily="34" charset="-122"/>
                <a:cs typeface="Calibri" pitchFamily="34" charset="-120"/>
              </a:rPr>
              <a:t>Incorporar reglas de calidad: radiación de madrugada y viento contra la red</a:t>
            </a:r>
            <a:endParaRPr lang="en-US" sz="2000" dirty="0"/>
          </a:p>
        </p:txBody>
      </p:sp>
      <p:sp>
        <p:nvSpPr>
          <p:cNvPr id="22" name="Recomendación 3"/>
          <p:cNvSpPr/>
          <p:nvPr/>
        </p:nvSpPr>
        <p:spPr>
          <a:xfrm>
            <a:off x="6172200" y="3785616"/>
            <a:ext cx="5468112" cy="1069848"/>
          </a:xfrm>
          <a:prstGeom prst="roundRect">
            <a:avLst>
              <a:gd name="adj" fmla="val 11966"/>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sp>
        <p:nvSpPr>
          <p:cNvPr id="23" name="Prioridad 3"/>
          <p:cNvSpPr/>
          <p:nvPr/>
        </p:nvSpPr>
        <p:spPr>
          <a:xfrm>
            <a:off x="6336792" y="4078224"/>
            <a:ext cx="475488" cy="475488"/>
          </a:xfrm>
          <a:prstGeom prst="ellipse">
            <a:avLst/>
          </a:prstGeom>
          <a:solidFill>
            <a:schemeClr val="accent2"/>
          </a:solidFill>
          <a:ln w="6350">
            <a:solidFill>
              <a:schemeClr val="accent2"/>
            </a:solidFill>
            <a:prstDash val="solid"/>
          </a:ln>
        </p:spPr>
      </p:sp>
      <p:sp>
        <p:nvSpPr>
          <p:cNvPr id="24" name="Text 22"/>
          <p:cNvSpPr txBox="1"/>
          <p:nvPr/>
        </p:nvSpPr>
        <p:spPr>
          <a:xfrm>
            <a:off x="6336792" y="4078224"/>
            <a:ext cx="475488" cy="475488"/>
          </a:xfrm>
          <a:prstGeom prst="rect">
            <a:avLst/>
          </a:prstGeom>
          <a:noFill/>
          <a:ln/>
        </p:spPr>
        <p:txBody>
          <a:bodyPr wrap="square" lIns="0" tIns="0" rIns="0" bIns="0"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25" name="Text 23"/>
          <p:cNvSpPr txBox="1"/>
          <p:nvPr/>
        </p:nvSpPr>
        <p:spPr>
          <a:xfrm>
            <a:off x="6949440" y="3831336"/>
            <a:ext cx="4553712" cy="978408"/>
          </a:xfrm>
          <a:prstGeom prst="rect">
            <a:avLst/>
          </a:prstGeom>
          <a:noFill/>
          <a:ln/>
        </p:spPr>
        <p:txBody>
          <a:bodyPr wrap="square" lIns="508" tIns="508" rIns="508" bIns="508" rtlCol="0" anchor="ctr"/>
          <a:lstStyle/>
          <a:p>
            <a:pPr marL="0" indent="0">
              <a:buNone/>
            </a:pPr>
            <a:r>
              <a:rPr lang="en-US" sz="2000" dirty="0">
                <a:solidFill>
                  <a:schemeClr val="tx1"/>
                </a:solidFill>
                <a:latin typeface="Calibri" pitchFamily="34" charset="0"/>
                <a:ea typeface="Calibri" pitchFamily="34" charset="-122"/>
                <a:cs typeface="Calibri" pitchFamily="34" charset="-120"/>
              </a:rPr>
              <a:t>Revisar sensores: radiación de NO2 y NTE; PM2.5 de NO2 de 2023 a 2025</a:t>
            </a:r>
            <a:endParaRPr lang="en-US" sz="2000" dirty="0"/>
          </a:p>
        </p:txBody>
      </p:sp>
      <p:sp>
        <p:nvSpPr>
          <p:cNvPr id="26" name="Repositorio"/>
          <p:cNvSpPr/>
          <p:nvPr/>
        </p:nvSpPr>
        <p:spPr>
          <a:xfrm>
            <a:off x="6172200" y="5029200"/>
            <a:ext cx="5468112" cy="1371600"/>
          </a:xfrm>
          <a:prstGeom prst="roundRect">
            <a:avLst>
              <a:gd name="adj" fmla="val 9333"/>
            </a:avLst>
          </a:prstGeom>
          <a:solidFill>
            <a:schemeClr val="bg1"/>
          </a:solidFill>
          <a:ln w="19050">
            <a:solidFill>
              <a:schemeClr val="accent4"/>
            </a:solidFill>
            <a:prstDash val="solid"/>
          </a:ln>
          <a:effectLst>
            <a:outerShdw blurRad="101600" dist="25400" dir="5400000" algn="bl" rotWithShape="0">
              <a:srgbClr val="7FB8D6">
                <a:alpha val="25000"/>
              </a:srgbClr>
            </a:outerShdw>
          </a:effectLst>
        </p:spPr>
      </p:sp>
      <p:pic>
        <p:nvPicPr>
          <p:cNvPr id="27" name="QR" descr="Código QR del repositorio, etiqueta informe-final"/>
          <p:cNvPicPr>
            <a:picLocks noChangeAspect="1"/>
          </p:cNvPicPr>
          <p:nvPr/>
        </p:nvPicPr>
        <p:blipFill>
          <a:blip r:embed="rId3"/>
          <a:stretch>
            <a:fillRect/>
          </a:stretch>
        </p:blipFill>
        <p:spPr>
          <a:xfrm>
            <a:off x="6309360" y="5120640"/>
            <a:ext cx="1188720" cy="1188720"/>
          </a:xfrm>
          <a:prstGeom prst="rect">
            <a:avLst/>
          </a:prstGeom>
        </p:spPr>
      </p:pic>
      <p:sp>
        <p:nvSpPr>
          <p:cNvPr id="28" name="Text 25"/>
          <p:cNvSpPr txBox="1"/>
          <p:nvPr/>
        </p:nvSpPr>
        <p:spPr>
          <a:xfrm>
            <a:off x="7635240" y="5074920"/>
            <a:ext cx="3867912" cy="1280160"/>
          </a:xfrm>
          <a:prstGeom prst="rect">
            <a:avLst/>
          </a:prstGeom>
          <a:noFill/>
          <a:ln/>
        </p:spPr>
        <p:txBody>
          <a:bodyPr wrap="square" lIns="508" tIns="508" rIns="508" bIns="508"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Código y resultados</a:t>
            </a:r>
            <a:endParaRPr lang="en-US" sz="2000" dirty="0"/>
          </a:p>
          <a:p>
            <a:pPr marL="0" indent="0">
              <a:buNone/>
            </a:pPr>
            <a:r>
              <a:rPr lang="en-US" sz="1800" dirty="0">
                <a:solidFill>
                  <a:schemeClr val="tx1"/>
                </a:solidFill>
                <a:latin typeface="Calibri" pitchFamily="34" charset="0"/>
                <a:ea typeface="Calibri" pitchFamily="34" charset="-122"/>
                <a:cs typeface="Calibri" pitchFamily="34" charset="-120"/>
              </a:rPr>
              <a:t>github.com/Leo-issacs/reto-sima-multivariados · etiqueta entrega-final</a:t>
            </a:r>
            <a:endParaRPr lang="en-US" sz="2000" dirty="0"/>
          </a:p>
        </p:txBody>
      </p:sp>
      <p:sp>
        <p:nvSpPr>
          <p:cNvPr id="29" name="Slide Number Placeholder 0"/>
          <p:cNvSpPr>
            <a:spLocks noGrp="1"/>
          </p:cNvSpPr>
          <p:nvPr>
            <p:ph type="sldNum" sz="quarter" idx="4294967295"/>
          </p:nvPr>
        </p:nvSpPr>
        <p:spPr>
          <a:xfrm>
            <a:off x="11704320" y="6473952"/>
            <a:ext cx="36576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SIMA Equipo 1">
  <a:themeElements>
    <a:clrScheme name="SIMA Equipo 1">
      <a:dk1>
        <a:srgbClr val="1F3B4D"/>
      </a:dk1>
      <a:lt1>
        <a:srgbClr val="FFFFFF"/>
      </a:lt1>
      <a:dk2>
        <a:srgbClr val="2676A4"/>
      </a:dk2>
      <a:lt2>
        <a:srgbClr val="E5F7FF"/>
      </a:lt2>
      <a:accent1>
        <a:srgbClr val="0072B2"/>
      </a:accent1>
      <a:accent2>
        <a:srgbClr val="D55E00"/>
      </a:accent2>
      <a:accent3>
        <a:srgbClr val="FABB3D"/>
      </a:accent3>
      <a:accent4>
        <a:srgbClr val="BFE3F5"/>
      </a:accent4>
      <a:accent5>
        <a:srgbClr val="6B7C88"/>
      </a:accent5>
      <a:accent6>
        <a:srgbClr val="009E73"/>
      </a:accent6>
      <a:hlink>
        <a:srgbClr val="0072B2"/>
      </a:hlink>
      <a:folHlink>
        <a:srgbClr val="6B7C88"/>
      </a:folHlink>
    </a:clrScheme>
    <a:fontScheme name="SIMA Equipo 1">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3092</Words>
  <Application>Microsoft Office PowerPoint</Application>
  <PresentationFormat>Widescreen</PresentationFormat>
  <Paragraphs>176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SIMA Equipo 1</vt:lpstr>
      <vt:lpstr>PowerPoint Presentation</vt:lpstr>
      <vt:lpstr>La pregunta: ¿cuánto agrega el clima del día a conocer estación y temporada?</vt:lpstr>
      <vt:lpstr>Las superaciones se concentran en Juárez (SE2) y Santa Catarina (SO), no en una altitud</vt:lpstr>
      <vt:lpstr>La superación depende de la temporada, y la temperatura solo importa dentro de ella</vt:lpstr>
      <vt:lpstr>Recuperamos 2 438 días imputando solo el clima, nunca el PM2.5</vt:lpstr>
      <vt:lpstr>Cada técnica responde una pregunta: estructura, comparación, validación e incertidumbre</vt:lpstr>
      <vt:lpstr>Tres ejes resumen el 66.5 % del clima, pero describir no es clasificar</vt:lpstr>
      <vt:lpstr>La meteorología sube el AUC de 0.71 a 0.79 y detecta 74 % de las superaciones</vt:lpstr>
      <vt:lpstr>La mejora se concentra de marzo a mayo; viento débil, presión baja y calor la acompañan</vt:lpstr>
      <vt:lpstr>El PM2.5 de ayer supera al clima, y un corte de 0.182 detecta 84 % de las superaciones</vt:lpstr>
      <vt:lpstr>Los supuestos del LDA no se cumplen; por eso validamos y no interpretamos fino</vt:lpstr>
      <vt:lpstr>Sí mejora, en 0.079 de AUC; lo que falta es probarlo con pronóstico</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¿Cuánto mejora la meteorología del día la identificación de días con PM2.5 alto en Monterrey?</dc:title>
  <dc:subject>PptxGenJS Presentation</dc:subject>
  <dc:creator>Equipo 1 · Grupo 201 · MA2003B</dc:creator>
  <cp:lastModifiedBy>Leonardo Orozco Guerrero</cp:lastModifiedBy>
  <cp:revision>1</cp:revision>
  <dcterms:created xsi:type="dcterms:W3CDTF">2026-10-22T22:17:29Z</dcterms:created>
  <dcterms:modified xsi:type="dcterms:W3CDTF">2026-10-23T02:27:17Z</dcterms:modified>
</cp:coreProperties>
</file>